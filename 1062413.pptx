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4012427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3640059"/>
            <a:ext cx="8458200" cy="916781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2914650"/>
            <a:ext cx="8458200" cy="6858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4855464"/>
            <a:ext cx="758952" cy="185166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Содержимое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57150"/>
            <a:ext cx="2895600" cy="216694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4855464"/>
            <a:ext cx="758952" cy="185166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2583677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257300"/>
            <a:ext cx="8458200" cy="9144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210314"/>
            <a:ext cx="8686800" cy="888619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342900"/>
            <a:ext cx="8686800" cy="630936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04800" y="1200150"/>
            <a:ext cx="4191000" cy="3543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343400" cy="3543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4057650"/>
            <a:ext cx="8610600" cy="661988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500062"/>
            <a:ext cx="4290556" cy="47982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6" y="500062"/>
            <a:ext cx="4292241" cy="47982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281444" y="987028"/>
            <a:ext cx="4290556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Содержимое 27"/>
          <p:cNvSpPr>
            <a:spLocks noGrp="1"/>
          </p:cNvSpPr>
          <p:nvPr>
            <p:ph sz="quarter" idx="4"/>
          </p:nvPr>
        </p:nvSpPr>
        <p:spPr>
          <a:xfrm>
            <a:off x="4648730" y="987028"/>
            <a:ext cx="4288536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4857750"/>
            <a:ext cx="762000" cy="185166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4514850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342900"/>
            <a:ext cx="8686800" cy="630936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4386838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4114800"/>
            <a:ext cx="8458200" cy="390525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1" y="457200"/>
            <a:ext cx="3008313" cy="360045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575050" y="457200"/>
            <a:ext cx="5340350" cy="36004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462476"/>
            <a:ext cx="5029200" cy="27432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3745320"/>
            <a:ext cx="5867400" cy="391716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4149913"/>
            <a:ext cx="5867400" cy="576263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411957"/>
            <a:ext cx="1828800" cy="4388644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11957"/>
            <a:ext cx="6248400" cy="4388644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788174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165622"/>
            <a:ext cx="86868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57150"/>
            <a:ext cx="2514600" cy="216694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02.02.2019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57150"/>
            <a:ext cx="3352800" cy="216694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4857751"/>
            <a:ext cx="762000" cy="183356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342900"/>
            <a:ext cx="8686800" cy="62865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788174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793490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 thruBlk="1"/>
  </p:transition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249493"/>
            <a:ext cx="6840760" cy="916781"/>
          </a:xfrm>
        </p:spPr>
        <p:txBody>
          <a:bodyPr>
            <a:noAutofit/>
          </a:bodyPr>
          <a:lstStyle/>
          <a:p>
            <a:pPr algn="ctr"/>
            <a:r>
              <a:rPr lang="ja-JP" altLang="en-US" sz="6600" dirty="0" smtClean="0">
                <a:solidFill>
                  <a:srgbClr val="C00000"/>
                </a:solidFill>
              </a:rPr>
              <a:t>日</a:t>
            </a:r>
            <a:r>
              <a:rPr lang="ja-JP" altLang="en-US" sz="6000" dirty="0" smtClean="0">
                <a:solidFill>
                  <a:srgbClr val="C00000"/>
                </a:solidFill>
              </a:rPr>
              <a:t>本語</a:t>
            </a:r>
            <a:r>
              <a:rPr lang="ru-RU" altLang="ja-JP" sz="6000" dirty="0" smtClean="0">
                <a:solidFill>
                  <a:srgbClr val="C00000"/>
                </a:solidFill>
              </a:rPr>
              <a:t/>
            </a:r>
            <a:br>
              <a:rPr lang="ru-RU" altLang="ja-JP" sz="6000" dirty="0" smtClean="0">
                <a:solidFill>
                  <a:srgbClr val="C00000"/>
                </a:solidFill>
              </a:rPr>
            </a:br>
            <a:r>
              <a:rPr lang="en-US" altLang="ja-JP" sz="6000" dirty="0" smtClean="0">
                <a:solidFill>
                  <a:srgbClr val="C00000"/>
                </a:solidFill>
              </a:rPr>
              <a:t/>
            </a:r>
            <a:br>
              <a:rPr lang="en-US" altLang="ja-JP" sz="6000" dirty="0" smtClean="0">
                <a:solidFill>
                  <a:srgbClr val="C00000"/>
                </a:solidFill>
              </a:rPr>
            </a:br>
            <a:r>
              <a:rPr lang="ja-JP" altLang="en-US" sz="6000" dirty="0" smtClean="0">
                <a:solidFill>
                  <a:srgbClr val="C00000"/>
                </a:solidFill>
              </a:rPr>
              <a:t>第</a:t>
            </a:r>
            <a:r>
              <a:rPr lang="ru-RU" altLang="ja-JP" sz="6000" dirty="0" smtClean="0">
                <a:solidFill>
                  <a:srgbClr val="C00000"/>
                </a:solidFill>
              </a:rPr>
              <a:t>8</a:t>
            </a:r>
            <a:r>
              <a:rPr lang="ja-JP" altLang="en-US" sz="6000" dirty="0" smtClean="0">
                <a:solidFill>
                  <a:srgbClr val="C00000"/>
                </a:solidFill>
              </a:rPr>
              <a:t>課</a:t>
            </a:r>
            <a:endParaRPr lang="ru-RU" sz="6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3723878"/>
            <a:ext cx="8458200" cy="685800"/>
          </a:xfrm>
        </p:spPr>
        <p:txBody>
          <a:bodyPr/>
          <a:lstStyle/>
          <a:p>
            <a:r>
              <a:rPr lang="ja-JP" altLang="en-US" sz="3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エレナ先生と</a:t>
            </a:r>
            <a:endParaRPr lang="ru-RU" sz="3200" b="1" dirty="0" smtClean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ru-RU" dirty="0"/>
          </a:p>
        </p:txBody>
      </p:sp>
      <p:pic>
        <p:nvPicPr>
          <p:cNvPr id="7" name="Рисунок 6" descr="57c9ac0c34406156ebc80fb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76056" y="1634651"/>
            <a:ext cx="3096344" cy="350885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rgbClr val="C00000"/>
                </a:solidFill>
              </a:rPr>
              <a:t>План 8 урока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1059582"/>
            <a:ext cx="8686800" cy="3500512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dirty="0" smtClean="0"/>
              <a:t>Изучение иероглифов.</a:t>
            </a:r>
          </a:p>
          <a:p>
            <a:pPr lvl="0"/>
            <a:r>
              <a:rPr lang="ru-RU" dirty="0" smtClean="0"/>
              <a:t>Конструкции приглашения к действию.</a:t>
            </a:r>
          </a:p>
          <a:p>
            <a:pPr lvl="0"/>
            <a:r>
              <a:rPr lang="ru-RU" dirty="0" smtClean="0"/>
              <a:t>Глаголы направленного действия.</a:t>
            </a:r>
          </a:p>
          <a:p>
            <a:pPr lvl="0"/>
            <a:r>
              <a:rPr lang="ru-RU" dirty="0" smtClean="0"/>
              <a:t>Слово </a:t>
            </a:r>
            <a:r>
              <a:rPr lang="ja-JP" altLang="en-US" dirty="0" smtClean="0"/>
              <a:t>もう</a:t>
            </a:r>
            <a:r>
              <a:rPr lang="ru-RU" dirty="0" smtClean="0"/>
              <a:t> для обозначения завершенности действия.</a:t>
            </a:r>
          </a:p>
          <a:p>
            <a:pPr lvl="0"/>
            <a:r>
              <a:rPr lang="ru-RU" dirty="0" smtClean="0"/>
              <a:t>Лексика. </a:t>
            </a:r>
          </a:p>
          <a:p>
            <a:r>
              <a:rPr lang="ru-RU" dirty="0" smtClean="0"/>
              <a:t>Домашнее задание . </a:t>
            </a:r>
          </a:p>
        </p:txBody>
      </p:sp>
      <p:pic>
        <p:nvPicPr>
          <p:cNvPr id="4" name="Рисунок 3" descr="1075499-roadkamelo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60032" y="2859782"/>
            <a:ext cx="2283718" cy="2283718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C00000"/>
                </a:solidFill>
              </a:rPr>
              <a:t>кандзи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4" name="Содержимое 3" descr="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91680" y="927349"/>
            <a:ext cx="5544616" cy="4146969"/>
          </a:xfrm>
        </p:spPr>
      </p:pic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C00000"/>
                </a:solidFill>
              </a:rPr>
              <a:t>кандзи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6" name="Содержимое 5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31640" y="1275606"/>
            <a:ext cx="6629400" cy="1114425"/>
          </a:xfrm>
        </p:spPr>
      </p:pic>
      <p:pic>
        <p:nvPicPr>
          <p:cNvPr id="7" name="Рисунок 6" descr="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23928" y="3003798"/>
            <a:ext cx="1224136" cy="1224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96136" y="3363838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 smtClean="0"/>
              <a:t>火曜日（かようび）</a:t>
            </a:r>
            <a:endParaRPr lang="en-US" altLang="ja-JP" dirty="0" smtClean="0"/>
          </a:p>
          <a:p>
            <a:pPr algn="ctr"/>
            <a:r>
              <a:rPr lang="ru-RU" dirty="0" smtClean="0"/>
              <a:t>вторник</a:t>
            </a:r>
            <a:endParaRPr lang="ru-RU" dirty="0"/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C00000"/>
                </a:solidFill>
              </a:rPr>
              <a:t>кандзи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6" name="Содержимое 5" descr="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31640" y="1347614"/>
            <a:ext cx="6619875" cy="1000125"/>
          </a:xfrm>
        </p:spPr>
      </p:pic>
      <p:pic>
        <p:nvPicPr>
          <p:cNvPr id="7" name="Рисунок 6" descr="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23928" y="2931790"/>
            <a:ext cx="1224136" cy="1224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12160" y="3219822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 smtClean="0"/>
              <a:t>水</a:t>
            </a:r>
            <a:r>
              <a:rPr lang="ja-JP" altLang="en-US" dirty="0" smtClean="0"/>
              <a:t>泳（すいえい）</a:t>
            </a:r>
            <a:endParaRPr lang="ru-RU" altLang="ja-JP" dirty="0" smtClean="0"/>
          </a:p>
          <a:p>
            <a:pPr algn="ctr"/>
            <a:r>
              <a:rPr lang="ru-RU" dirty="0" smtClean="0"/>
              <a:t>плавание</a:t>
            </a:r>
            <a:endParaRPr lang="ru-RU" dirty="0"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C00000"/>
                </a:solidFill>
              </a:rPr>
              <a:t>кандзи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6" name="Содержимое 5" descr="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59632" y="1347614"/>
            <a:ext cx="6629400" cy="1162050"/>
          </a:xfrm>
        </p:spPr>
      </p:pic>
      <p:pic>
        <p:nvPicPr>
          <p:cNvPr id="7" name="Рисунок 6" descr="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95936" y="2931790"/>
            <a:ext cx="1296144" cy="1296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28184" y="3507854"/>
            <a:ext cx="2121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 smtClean="0"/>
              <a:t>現金（げんきん）</a:t>
            </a:r>
            <a:endParaRPr lang="ru-RU" altLang="ja-JP" dirty="0" smtClean="0"/>
          </a:p>
          <a:p>
            <a:pPr algn="ctr"/>
            <a:r>
              <a:rPr lang="ru-RU" dirty="0" smtClean="0"/>
              <a:t>наличные деньги</a:t>
            </a:r>
            <a:endParaRPr lang="ru-RU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C00000"/>
                </a:solidFill>
              </a:rPr>
              <a:t>кандзи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6" name="Содержимое 5" descr="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31640" y="1347614"/>
            <a:ext cx="6629400" cy="1114425"/>
          </a:xfrm>
        </p:spPr>
      </p:pic>
      <p:pic>
        <p:nvPicPr>
          <p:cNvPr id="7" name="Рисунок 6" descr="4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95936" y="3003798"/>
            <a:ext cx="1080120" cy="108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96136" y="3291830"/>
            <a:ext cx="2576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 smtClean="0"/>
              <a:t>土木（どぼく）</a:t>
            </a:r>
            <a:endParaRPr lang="en-US" altLang="ja-JP" dirty="0" smtClean="0"/>
          </a:p>
          <a:p>
            <a:pPr algn="ctr"/>
            <a:r>
              <a:rPr lang="ru-RU" dirty="0" smtClean="0"/>
              <a:t>строительные работы</a:t>
            </a:r>
            <a:endParaRPr lang="ru-RU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C00000"/>
                </a:solidFill>
              </a:rPr>
              <a:t>кандзи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6" name="Содержимое 5" descr="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87624" y="1491630"/>
            <a:ext cx="6629400" cy="923925"/>
          </a:xfrm>
        </p:spPr>
      </p:pic>
      <p:pic>
        <p:nvPicPr>
          <p:cNvPr id="7" name="Рисунок 6" descr="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23928" y="3075806"/>
            <a:ext cx="1152128" cy="1152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08104" y="3363838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 smtClean="0"/>
              <a:t>女子学</a:t>
            </a:r>
            <a:r>
              <a:rPr lang="ja-JP" altLang="en-US" dirty="0" smtClean="0"/>
              <a:t>生（じょしがくせい）</a:t>
            </a:r>
            <a:endParaRPr lang="en-US" altLang="ja-JP" dirty="0" smtClean="0"/>
          </a:p>
          <a:p>
            <a:pPr algn="ctr"/>
            <a:r>
              <a:rPr lang="ru-RU" dirty="0" smtClean="0"/>
              <a:t>студентка</a:t>
            </a:r>
            <a:endParaRPr lang="ru-RU" dirty="0"/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C00000"/>
                </a:solidFill>
              </a:rPr>
              <a:t>кандзи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6" name="Содержимое 5" descr="6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87624" y="1347614"/>
            <a:ext cx="6629400" cy="1085850"/>
          </a:xfrm>
        </p:spPr>
      </p:pic>
      <p:pic>
        <p:nvPicPr>
          <p:cNvPr id="7" name="Рисунок 6" descr="6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51920" y="3003798"/>
            <a:ext cx="1296144" cy="1296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0152" y="336383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 smtClean="0"/>
              <a:t>彼女（かのじょ）</a:t>
            </a:r>
            <a:endParaRPr lang="en-US" altLang="ja-JP" dirty="0" smtClean="0"/>
          </a:p>
          <a:p>
            <a:pPr algn="ctr"/>
            <a:r>
              <a:rPr lang="ru-RU" dirty="0" smtClean="0"/>
              <a:t>д</a:t>
            </a:r>
            <a:r>
              <a:rPr lang="ru-RU" dirty="0" smtClean="0"/>
              <a:t>евушка/она</a:t>
            </a:r>
            <a:endParaRPr lang="ru-RU" dirty="0"/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C00000"/>
                </a:solidFill>
              </a:rPr>
              <a:t>кандзи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6" name="Содержимое 5" descr="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87624" y="1419622"/>
            <a:ext cx="6629400" cy="933450"/>
          </a:xfrm>
        </p:spPr>
      </p:pic>
      <p:pic>
        <p:nvPicPr>
          <p:cNvPr id="7" name="Рисунок 6" descr="7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51920" y="2931790"/>
            <a:ext cx="1368152" cy="1368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84168" y="336383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 smtClean="0"/>
              <a:t>学生（がくせい）</a:t>
            </a:r>
            <a:endParaRPr lang="en-US" altLang="ja-JP" dirty="0" smtClean="0"/>
          </a:p>
          <a:p>
            <a:pPr algn="ctr"/>
            <a:r>
              <a:rPr lang="ru-RU" dirty="0" smtClean="0"/>
              <a:t>студент</a:t>
            </a:r>
            <a:endParaRPr lang="ru-RU" dirty="0"/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C00000"/>
                </a:solidFill>
              </a:rPr>
              <a:t>кандзи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8" name="Содержимое 7" descr="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59632" y="1419622"/>
            <a:ext cx="6629400" cy="1123950"/>
          </a:xfrm>
        </p:spPr>
      </p:pic>
      <p:pic>
        <p:nvPicPr>
          <p:cNvPr id="9" name="Рисунок 8" descr="8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23928" y="3075806"/>
            <a:ext cx="1224136" cy="1224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68144" y="343584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 smtClean="0"/>
              <a:t>生活（せいかつ）</a:t>
            </a:r>
            <a:endParaRPr lang="ru-RU" altLang="ja-JP" dirty="0" smtClean="0"/>
          </a:p>
          <a:p>
            <a:pPr algn="ctr"/>
            <a:r>
              <a:rPr lang="ru-RU" dirty="0" smtClean="0"/>
              <a:t>жизнь</a:t>
            </a:r>
            <a:endParaRPr lang="ru-RU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C00000"/>
                </a:solidFill>
              </a:rPr>
              <a:t>кандзи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6" name="Содержимое 5" descr="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87624" y="1275606"/>
            <a:ext cx="6629400" cy="1133475"/>
          </a:xfrm>
        </p:spPr>
      </p:pic>
      <p:pic>
        <p:nvPicPr>
          <p:cNvPr id="7" name="Рисунок 6" descr="9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23928" y="3147814"/>
            <a:ext cx="1224136" cy="1224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0152" y="3579862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 smtClean="0"/>
              <a:t>先生（せんせい）</a:t>
            </a:r>
            <a:endParaRPr lang="en-US" altLang="ja-JP" dirty="0" smtClean="0"/>
          </a:p>
          <a:p>
            <a:pPr algn="ctr"/>
            <a:r>
              <a:rPr lang="ru-RU" dirty="0" smtClean="0"/>
              <a:t>учитель</a:t>
            </a:r>
            <a:endParaRPr lang="ru-RU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2771800" y="1059582"/>
            <a:ext cx="3528392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91556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dirty="0" smtClean="0">
                <a:solidFill>
                  <a:srgbClr val="C00000"/>
                </a:solidFill>
              </a:rPr>
              <a:t>Приглашение </a:t>
            </a:r>
            <a:br>
              <a:rPr lang="ru-RU" sz="2800" dirty="0" smtClean="0">
                <a:solidFill>
                  <a:srgbClr val="C00000"/>
                </a:solidFill>
              </a:rPr>
            </a:br>
            <a:r>
              <a:rPr lang="ru-RU" sz="2800" dirty="0" smtClean="0">
                <a:solidFill>
                  <a:srgbClr val="C00000"/>
                </a:solidFill>
              </a:rPr>
              <a:t>к действию</a:t>
            </a:r>
            <a:endParaRPr lang="ru-RU" sz="2800" dirty="0">
              <a:solidFill>
                <a:srgbClr val="C0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03598"/>
            <a:ext cx="9144000" cy="335649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ja-JP" altLang="en-US" dirty="0" smtClean="0"/>
              <a:t>ます＝＞ませんか</a:t>
            </a:r>
            <a:endParaRPr lang="ru-RU" dirty="0" smtClean="0"/>
          </a:p>
          <a:p>
            <a:pPr>
              <a:buNone/>
            </a:pPr>
            <a:endParaRPr lang="ru-RU" altLang="ja-JP" dirty="0" smtClean="0"/>
          </a:p>
          <a:p>
            <a:pPr algn="ctr">
              <a:buNone/>
            </a:pPr>
            <a:r>
              <a:rPr lang="ja-JP" altLang="en-US" sz="2800" dirty="0" smtClean="0"/>
              <a:t>プレゼントを</a:t>
            </a:r>
            <a:r>
              <a:rPr lang="ja-JP" altLang="en-US" sz="2800" dirty="0" smtClean="0">
                <a:solidFill>
                  <a:srgbClr val="C00000"/>
                </a:solidFill>
              </a:rPr>
              <a:t>かいます</a:t>
            </a:r>
            <a:r>
              <a:rPr lang="ja-JP" altLang="en-US" sz="2800" dirty="0" smtClean="0"/>
              <a:t>。</a:t>
            </a:r>
            <a:r>
              <a:rPr lang="ru-RU" sz="2800" dirty="0" smtClean="0"/>
              <a:t>                    </a:t>
            </a:r>
            <a:r>
              <a:rPr lang="ru-RU" sz="2400" dirty="0" smtClean="0"/>
              <a:t>Куплю подарок. </a:t>
            </a:r>
            <a:endParaRPr lang="ru-RU" altLang="ja-JP" sz="2800" dirty="0" smtClean="0"/>
          </a:p>
          <a:p>
            <a:pPr algn="ctr">
              <a:buNone/>
            </a:pPr>
            <a:endParaRPr lang="ru-RU" altLang="ja-JP" sz="2800" dirty="0" smtClean="0"/>
          </a:p>
          <a:p>
            <a:pPr algn="ctr">
              <a:buNone/>
            </a:pPr>
            <a:r>
              <a:rPr lang="ja-JP" altLang="en-US" sz="2800" dirty="0" smtClean="0"/>
              <a:t>プレゼントを</a:t>
            </a:r>
            <a:r>
              <a:rPr lang="ja-JP" altLang="en-US" sz="2800" dirty="0" smtClean="0">
                <a:solidFill>
                  <a:srgbClr val="C00000"/>
                </a:solidFill>
              </a:rPr>
              <a:t>かいませんか</a:t>
            </a:r>
            <a:r>
              <a:rPr lang="ja-JP" altLang="en-US" sz="2800" dirty="0" smtClean="0"/>
              <a:t>。</a:t>
            </a:r>
            <a:r>
              <a:rPr lang="ru-RU" altLang="ja-JP" sz="2800" dirty="0" smtClean="0"/>
              <a:t>  </a:t>
            </a:r>
            <a:r>
              <a:rPr lang="ru-RU" sz="2400" dirty="0" smtClean="0"/>
              <a:t>Не купить ли (нам) подарок?</a:t>
            </a:r>
            <a:endParaRPr lang="ru-RU" sz="2800" dirty="0" smtClean="0"/>
          </a:p>
          <a:p>
            <a:endParaRPr lang="ru-RU" dirty="0"/>
          </a:p>
        </p:txBody>
      </p:sp>
      <p:sp>
        <p:nvSpPr>
          <p:cNvPr id="5" name="Стрелка вниз 4"/>
          <p:cNvSpPr/>
          <p:nvPr/>
        </p:nvSpPr>
        <p:spPr>
          <a:xfrm>
            <a:off x="2123728" y="2859782"/>
            <a:ext cx="216024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2915816" y="1059582"/>
            <a:ext cx="3384376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971550"/>
          </a:xfrm>
        </p:spPr>
        <p:txBody>
          <a:bodyPr>
            <a:noAutofit/>
          </a:bodyPr>
          <a:lstStyle/>
          <a:p>
            <a:pPr algn="ctr"/>
            <a:r>
              <a:rPr lang="ru-RU" sz="2400" dirty="0" smtClean="0">
                <a:solidFill>
                  <a:srgbClr val="C00000"/>
                </a:solidFill>
              </a:rPr>
              <a:t>Приглашение </a:t>
            </a:r>
            <a:br>
              <a:rPr lang="ru-RU" sz="2400" dirty="0" smtClean="0">
                <a:solidFill>
                  <a:srgbClr val="C00000"/>
                </a:solidFill>
              </a:rPr>
            </a:br>
            <a:r>
              <a:rPr lang="ru-RU" sz="2400" dirty="0" smtClean="0">
                <a:solidFill>
                  <a:srgbClr val="C00000"/>
                </a:solidFill>
              </a:rPr>
              <a:t>к действию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ja-JP" altLang="en-US" dirty="0" smtClean="0"/>
              <a:t>ます＝＞ましょう</a:t>
            </a:r>
            <a:endParaRPr lang="ru-RU" dirty="0" smtClean="0"/>
          </a:p>
          <a:p>
            <a:pPr>
              <a:buNone/>
            </a:pPr>
            <a:endParaRPr lang="ru-RU" altLang="ja-JP" dirty="0" smtClean="0"/>
          </a:p>
          <a:p>
            <a:pPr algn="ctr">
              <a:buNone/>
            </a:pPr>
            <a:r>
              <a:rPr lang="ja-JP" altLang="en-US" dirty="0" smtClean="0"/>
              <a:t>やすみ</a:t>
            </a:r>
            <a:r>
              <a:rPr lang="ja-JP" altLang="en-US" dirty="0" smtClean="0">
                <a:solidFill>
                  <a:srgbClr val="C00000"/>
                </a:solidFill>
              </a:rPr>
              <a:t>ます</a:t>
            </a:r>
            <a:r>
              <a:rPr lang="ja-JP" altLang="en-US" dirty="0" smtClean="0"/>
              <a:t>。</a:t>
            </a:r>
            <a:r>
              <a:rPr lang="ru-RU" altLang="ja-JP" dirty="0" smtClean="0"/>
              <a:t>                    </a:t>
            </a:r>
            <a:r>
              <a:rPr lang="ru-RU" dirty="0" smtClean="0"/>
              <a:t> Отдыхаю. </a:t>
            </a:r>
          </a:p>
          <a:p>
            <a:pPr algn="ctr">
              <a:buNone/>
            </a:pPr>
            <a:endParaRPr lang="ru-RU" altLang="ja-JP" dirty="0" smtClean="0"/>
          </a:p>
          <a:p>
            <a:pPr algn="ctr">
              <a:buNone/>
            </a:pPr>
            <a:r>
              <a:rPr lang="ja-JP" altLang="en-US" dirty="0" smtClean="0"/>
              <a:t>やすみ</a:t>
            </a:r>
            <a:r>
              <a:rPr lang="ja-JP" altLang="en-US" dirty="0" smtClean="0">
                <a:solidFill>
                  <a:srgbClr val="C00000"/>
                </a:solidFill>
              </a:rPr>
              <a:t>ましょう</a:t>
            </a:r>
            <a:r>
              <a:rPr lang="ja-JP" altLang="en-US" dirty="0" smtClean="0"/>
              <a:t>。</a:t>
            </a:r>
            <a:r>
              <a:rPr lang="ru-RU" altLang="ja-JP" dirty="0" smtClean="0"/>
              <a:t>       </a:t>
            </a:r>
            <a:r>
              <a:rPr lang="ru-RU" dirty="0" smtClean="0"/>
              <a:t>  Давай отдохнем.</a:t>
            </a:r>
          </a:p>
          <a:p>
            <a:pPr>
              <a:buNone/>
            </a:pPr>
            <a:endParaRPr lang="ru-RU" dirty="0" smtClean="0"/>
          </a:p>
          <a:p>
            <a:endParaRPr lang="ru-RU" dirty="0"/>
          </a:p>
        </p:txBody>
      </p:sp>
      <p:sp>
        <p:nvSpPr>
          <p:cNvPr id="5" name="Стрелка вниз 4"/>
          <p:cNvSpPr/>
          <p:nvPr/>
        </p:nvSpPr>
        <p:spPr>
          <a:xfrm>
            <a:off x="2267744" y="2931790"/>
            <a:ext cx="288032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heart_to_heart_pt_10_by_stichielover92-daffk3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07904" y="1275606"/>
            <a:ext cx="4834867" cy="386789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971550"/>
          </a:xfrm>
        </p:spPr>
        <p:txBody>
          <a:bodyPr>
            <a:noAutofit/>
          </a:bodyPr>
          <a:lstStyle/>
          <a:p>
            <a:pPr algn="ctr"/>
            <a:r>
              <a:rPr lang="ru-RU" sz="2400" dirty="0" smtClean="0">
                <a:solidFill>
                  <a:srgbClr val="C00000"/>
                </a:solidFill>
              </a:rPr>
              <a:t>Приглашение </a:t>
            </a:r>
            <a:br>
              <a:rPr lang="ru-RU" sz="2400" dirty="0" smtClean="0">
                <a:solidFill>
                  <a:srgbClr val="C00000"/>
                </a:solidFill>
              </a:rPr>
            </a:br>
            <a:r>
              <a:rPr lang="ru-RU" sz="2400" dirty="0" smtClean="0">
                <a:solidFill>
                  <a:srgbClr val="C00000"/>
                </a:solidFill>
              </a:rPr>
              <a:t>к действию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いっしょにひるごはんをたべ</a:t>
            </a:r>
            <a:r>
              <a:rPr lang="ja-JP" altLang="en-US" dirty="0" smtClean="0">
                <a:solidFill>
                  <a:srgbClr val="C00000"/>
                </a:solidFill>
              </a:rPr>
              <a:t>ませんか</a:t>
            </a:r>
            <a:r>
              <a:rPr lang="ja-JP" altLang="en-US" dirty="0" smtClean="0"/>
              <a:t>。</a:t>
            </a:r>
            <a:endParaRPr lang="ru-RU" altLang="ja-JP" dirty="0" smtClean="0"/>
          </a:p>
          <a:p>
            <a:pPr>
              <a:buNone/>
            </a:pPr>
            <a:r>
              <a:rPr lang="ru-RU" sz="2800" dirty="0" smtClean="0"/>
              <a:t>Не пообедать ли нам вместе?</a:t>
            </a:r>
          </a:p>
          <a:p>
            <a:r>
              <a:rPr lang="ja-JP" altLang="en-US" dirty="0" smtClean="0"/>
              <a:t>はい、たべ</a:t>
            </a:r>
            <a:r>
              <a:rPr lang="ja-JP" altLang="en-US" dirty="0" smtClean="0">
                <a:solidFill>
                  <a:srgbClr val="C00000"/>
                </a:solidFill>
              </a:rPr>
              <a:t>ましょう</a:t>
            </a:r>
            <a:r>
              <a:rPr lang="ja-JP" altLang="en-US" dirty="0" smtClean="0"/>
              <a:t>。</a:t>
            </a:r>
            <a:endParaRPr lang="ru-RU" altLang="ja-JP" dirty="0" smtClean="0"/>
          </a:p>
          <a:p>
            <a:pPr>
              <a:buNone/>
            </a:pPr>
            <a:r>
              <a:rPr lang="ru-RU" sz="2800" dirty="0" smtClean="0"/>
              <a:t>Да, давайте пообедаем. </a:t>
            </a:r>
          </a:p>
          <a:p>
            <a:endParaRPr lang="ru-RU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97155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>
                <a:solidFill>
                  <a:srgbClr val="C00000"/>
                </a:solidFill>
              </a:rPr>
              <a:t>Глаголы </a:t>
            </a:r>
            <a:br>
              <a:rPr lang="ru-RU" sz="2400" dirty="0" smtClean="0">
                <a:solidFill>
                  <a:srgbClr val="C00000"/>
                </a:solidFill>
              </a:rPr>
            </a:br>
            <a:r>
              <a:rPr lang="ru-RU" sz="2400" dirty="0" smtClean="0">
                <a:solidFill>
                  <a:srgbClr val="C00000"/>
                </a:solidFill>
              </a:rPr>
              <a:t>направленного действия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dirty="0" smtClean="0"/>
              <a:t>лицо, от которого исходит действие</a:t>
            </a:r>
          </a:p>
          <a:p>
            <a:pPr>
              <a:buNone/>
            </a:pPr>
            <a:endParaRPr lang="ru-RU" altLang="ja-JP" dirty="0" smtClean="0"/>
          </a:p>
          <a:p>
            <a:pPr algn="ctr">
              <a:buNone/>
            </a:pPr>
            <a:r>
              <a:rPr lang="ja-JP" altLang="en-US" dirty="0" smtClean="0"/>
              <a:t>あげます</a:t>
            </a:r>
            <a:r>
              <a:rPr lang="ru-RU" altLang="ja-JP" dirty="0" smtClean="0"/>
              <a:t>                    </a:t>
            </a:r>
            <a:r>
              <a:rPr lang="ja-JP" altLang="en-US" dirty="0" smtClean="0"/>
              <a:t>かします</a:t>
            </a:r>
            <a:endParaRPr lang="ru-RU" altLang="ja-JP" dirty="0" smtClean="0"/>
          </a:p>
          <a:p>
            <a:pPr algn="ctr">
              <a:buNone/>
            </a:pPr>
            <a:r>
              <a:rPr lang="ru-RU" sz="2400" dirty="0" smtClean="0"/>
              <a:t>    давать                               одалживать</a:t>
            </a:r>
          </a:p>
          <a:p>
            <a:pPr algn="ctr">
              <a:buNone/>
            </a:pPr>
            <a:r>
              <a:rPr lang="ja-JP" altLang="en-US" dirty="0" smtClean="0"/>
              <a:t>おしえます</a:t>
            </a:r>
            <a:endParaRPr lang="ru-RU" altLang="ja-JP" dirty="0" smtClean="0"/>
          </a:p>
          <a:p>
            <a:pPr algn="ctr">
              <a:buNone/>
            </a:pPr>
            <a:r>
              <a:rPr lang="ru-RU" sz="2400" dirty="0" smtClean="0"/>
              <a:t>преподавать</a:t>
            </a:r>
          </a:p>
          <a:p>
            <a:endParaRPr lang="ru-RU" dirty="0"/>
          </a:p>
        </p:txBody>
      </p:sp>
      <p:sp>
        <p:nvSpPr>
          <p:cNvPr id="8" name="Стрелка вниз 7"/>
          <p:cNvSpPr/>
          <p:nvPr/>
        </p:nvSpPr>
        <p:spPr>
          <a:xfrm>
            <a:off x="4427984" y="1779662"/>
            <a:ext cx="288032" cy="15121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низ 8"/>
          <p:cNvSpPr/>
          <p:nvPr/>
        </p:nvSpPr>
        <p:spPr>
          <a:xfrm rot="19313466">
            <a:off x="5250103" y="1675504"/>
            <a:ext cx="194413" cy="864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/>
          <p:cNvSpPr/>
          <p:nvPr/>
        </p:nvSpPr>
        <p:spPr>
          <a:xfrm rot="2308453">
            <a:off x="3688653" y="1689244"/>
            <a:ext cx="204950" cy="756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971550"/>
          </a:xfrm>
        </p:spPr>
        <p:txBody>
          <a:bodyPr>
            <a:noAutofit/>
          </a:bodyPr>
          <a:lstStyle/>
          <a:p>
            <a:pPr algn="ctr"/>
            <a:r>
              <a:rPr lang="ru-RU" sz="2400" dirty="0" smtClean="0">
                <a:solidFill>
                  <a:srgbClr val="C00000"/>
                </a:solidFill>
              </a:rPr>
              <a:t>Глаголы </a:t>
            </a:r>
            <a:br>
              <a:rPr lang="ru-RU" sz="2400" dirty="0" smtClean="0">
                <a:solidFill>
                  <a:srgbClr val="C00000"/>
                </a:solidFill>
              </a:rPr>
            </a:br>
            <a:r>
              <a:rPr lang="ru-RU" sz="2400" dirty="0" smtClean="0">
                <a:solidFill>
                  <a:srgbClr val="C00000"/>
                </a:solidFill>
              </a:rPr>
              <a:t>направленного действия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1275606"/>
            <a:ext cx="8686800" cy="3456384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やまださんはきむらさん</a:t>
            </a:r>
            <a:r>
              <a:rPr lang="ja-JP" altLang="en-US" dirty="0" smtClean="0">
                <a:solidFill>
                  <a:srgbClr val="C00000"/>
                </a:solidFill>
              </a:rPr>
              <a:t>に</a:t>
            </a:r>
            <a:r>
              <a:rPr lang="ja-JP" altLang="en-US" dirty="0" smtClean="0"/>
              <a:t>はなを</a:t>
            </a:r>
            <a:r>
              <a:rPr lang="ja-JP" altLang="en-US" dirty="0" smtClean="0">
                <a:solidFill>
                  <a:srgbClr val="C00000"/>
                </a:solidFill>
              </a:rPr>
              <a:t>あげました</a:t>
            </a:r>
            <a:r>
              <a:rPr lang="ja-JP" altLang="en-US" dirty="0" smtClean="0"/>
              <a:t>。</a:t>
            </a:r>
            <a:endParaRPr lang="ru-RU" altLang="ja-JP" dirty="0" smtClean="0"/>
          </a:p>
          <a:p>
            <a:pPr>
              <a:buNone/>
            </a:pPr>
            <a:r>
              <a:rPr lang="ru-RU" sz="2400" dirty="0" smtClean="0"/>
              <a:t>Г-н </a:t>
            </a:r>
            <a:r>
              <a:rPr lang="ru-RU" sz="2400" dirty="0" err="1" smtClean="0"/>
              <a:t>Ямада</a:t>
            </a:r>
            <a:r>
              <a:rPr lang="ru-RU" sz="2400" dirty="0" smtClean="0"/>
              <a:t> подарил цветы г-же </a:t>
            </a:r>
            <a:r>
              <a:rPr lang="ru-RU" sz="2400" dirty="0" err="1" smtClean="0"/>
              <a:t>Кимура</a:t>
            </a:r>
            <a:r>
              <a:rPr lang="ru-RU" sz="2400" dirty="0" smtClean="0"/>
              <a:t>.</a:t>
            </a:r>
            <a:endParaRPr lang="ru-RU" sz="2800" dirty="0" smtClean="0"/>
          </a:p>
          <a:p>
            <a:r>
              <a:rPr lang="ja-JP" altLang="en-US" dirty="0" smtClean="0"/>
              <a:t>たかなさん</a:t>
            </a:r>
            <a:r>
              <a:rPr lang="ja-JP" altLang="en-US" dirty="0" smtClean="0">
                <a:solidFill>
                  <a:srgbClr val="C00000"/>
                </a:solidFill>
              </a:rPr>
              <a:t>に</a:t>
            </a:r>
            <a:r>
              <a:rPr lang="ja-JP" altLang="en-US" dirty="0" smtClean="0"/>
              <a:t>本を</a:t>
            </a:r>
            <a:r>
              <a:rPr lang="ja-JP" altLang="en-US" dirty="0" smtClean="0">
                <a:solidFill>
                  <a:srgbClr val="C00000"/>
                </a:solidFill>
              </a:rPr>
              <a:t>かしました</a:t>
            </a:r>
            <a:r>
              <a:rPr lang="ja-JP" altLang="en-US" dirty="0" smtClean="0"/>
              <a:t>。</a:t>
            </a:r>
            <a:endParaRPr lang="ru-RU" altLang="ja-JP" dirty="0" smtClean="0"/>
          </a:p>
          <a:p>
            <a:pPr>
              <a:buNone/>
            </a:pPr>
            <a:r>
              <a:rPr lang="ru-RU" sz="2400" dirty="0" smtClean="0"/>
              <a:t>Я одолжил книгу г-ну </a:t>
            </a:r>
            <a:r>
              <a:rPr lang="ru-RU" sz="2400" dirty="0" err="1" smtClean="0"/>
              <a:t>Танака</a:t>
            </a:r>
            <a:r>
              <a:rPr lang="ru-RU" sz="2400" dirty="0" smtClean="0"/>
              <a:t>.</a:t>
            </a:r>
          </a:p>
          <a:p>
            <a:r>
              <a:rPr lang="ja-JP" altLang="en-US" dirty="0" smtClean="0"/>
              <a:t>たろうくん</a:t>
            </a:r>
            <a:r>
              <a:rPr lang="ja-JP" altLang="en-US" dirty="0" smtClean="0">
                <a:solidFill>
                  <a:srgbClr val="C00000"/>
                </a:solidFill>
              </a:rPr>
              <a:t>に</a:t>
            </a:r>
            <a:r>
              <a:rPr lang="ja-JP" altLang="en-US" dirty="0" smtClean="0"/>
              <a:t>えいごを</a:t>
            </a:r>
            <a:r>
              <a:rPr lang="ja-JP" altLang="en-US" dirty="0" smtClean="0">
                <a:solidFill>
                  <a:srgbClr val="C00000"/>
                </a:solidFill>
              </a:rPr>
              <a:t>おしえます</a:t>
            </a:r>
            <a:r>
              <a:rPr lang="ja-JP" altLang="en-US" dirty="0" smtClean="0"/>
              <a:t>。</a:t>
            </a:r>
            <a:endParaRPr lang="ru-RU" altLang="ja-JP" dirty="0" smtClean="0"/>
          </a:p>
          <a:p>
            <a:pPr>
              <a:buNone/>
            </a:pPr>
            <a:r>
              <a:rPr lang="ru-RU" sz="2800" dirty="0" smtClean="0"/>
              <a:t>Я преподаю английский язык </a:t>
            </a:r>
            <a:r>
              <a:rPr lang="ru-RU" sz="2800" dirty="0" err="1" smtClean="0"/>
              <a:t>Таро</a:t>
            </a:r>
            <a:r>
              <a:rPr lang="ru-RU" sz="2800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97155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>
                <a:solidFill>
                  <a:srgbClr val="C00000"/>
                </a:solidFill>
              </a:rPr>
              <a:t>Глаголы </a:t>
            </a:r>
            <a:br>
              <a:rPr lang="ru-RU" sz="2400" dirty="0" smtClean="0">
                <a:solidFill>
                  <a:srgbClr val="C00000"/>
                </a:solidFill>
              </a:rPr>
            </a:br>
            <a:r>
              <a:rPr lang="ru-RU" sz="2400" dirty="0" smtClean="0">
                <a:solidFill>
                  <a:srgbClr val="C00000"/>
                </a:solidFill>
              </a:rPr>
              <a:t>направленного действия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65622"/>
            <a:ext cx="8812088" cy="3710384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действия со стороны получателя</a:t>
            </a:r>
          </a:p>
          <a:p>
            <a:pPr>
              <a:buNone/>
            </a:pPr>
            <a:endParaRPr lang="en-US" altLang="ja-JP" dirty="0" smtClean="0"/>
          </a:p>
          <a:p>
            <a:pPr algn="ctr">
              <a:buNone/>
            </a:pPr>
            <a:r>
              <a:rPr lang="ja-JP" altLang="en-US" dirty="0" smtClean="0"/>
              <a:t>もらいます</a:t>
            </a:r>
            <a:r>
              <a:rPr lang="ru-RU" altLang="ja-JP" dirty="0" smtClean="0"/>
              <a:t>    </a:t>
            </a:r>
            <a:r>
              <a:rPr lang="ja-JP" altLang="en-US" dirty="0" smtClean="0"/>
              <a:t>　　　かります</a:t>
            </a:r>
            <a:endParaRPr lang="en-US" altLang="ja-JP" dirty="0" smtClean="0"/>
          </a:p>
          <a:p>
            <a:pPr algn="ctr">
              <a:buNone/>
            </a:pPr>
            <a:r>
              <a:rPr lang="ru-RU" sz="2400" dirty="0" smtClean="0"/>
              <a:t>      получать                   </a:t>
            </a:r>
            <a:r>
              <a:rPr lang="ja-JP" altLang="en-US" sz="2400" dirty="0" smtClean="0"/>
              <a:t>　</a:t>
            </a:r>
            <a:r>
              <a:rPr lang="ru-RU" altLang="ja-JP" sz="2400" dirty="0" smtClean="0"/>
              <a:t>  </a:t>
            </a:r>
            <a:r>
              <a:rPr lang="ru-RU" sz="2400" dirty="0" smtClean="0"/>
              <a:t>одалживать</a:t>
            </a:r>
            <a:r>
              <a:rPr lang="ja-JP" altLang="en-US" sz="2800" dirty="0" smtClean="0"/>
              <a:t>　</a:t>
            </a:r>
            <a:endParaRPr lang="en-US" altLang="ja-JP" sz="2800" dirty="0" smtClean="0"/>
          </a:p>
          <a:p>
            <a:pPr algn="ctr">
              <a:buNone/>
            </a:pPr>
            <a:r>
              <a:rPr lang="ja-JP" altLang="en-US" dirty="0" smtClean="0"/>
              <a:t>ならいます</a:t>
            </a:r>
            <a:endParaRPr lang="en-US" altLang="ja-JP" dirty="0" smtClean="0"/>
          </a:p>
          <a:p>
            <a:pPr algn="ctr">
              <a:buNone/>
            </a:pPr>
            <a:r>
              <a:rPr lang="ru-RU" sz="2400" dirty="0" smtClean="0"/>
              <a:t>обучаться</a:t>
            </a:r>
            <a:endParaRPr lang="ru-RU" dirty="0"/>
          </a:p>
        </p:txBody>
      </p:sp>
      <p:sp>
        <p:nvSpPr>
          <p:cNvPr id="4" name="Стрелка вниз 3"/>
          <p:cNvSpPr/>
          <p:nvPr/>
        </p:nvSpPr>
        <p:spPr>
          <a:xfrm>
            <a:off x="4572000" y="1779662"/>
            <a:ext cx="288032" cy="15121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трелка вниз 4"/>
          <p:cNvSpPr/>
          <p:nvPr/>
        </p:nvSpPr>
        <p:spPr>
          <a:xfrm rot="19652773">
            <a:off x="5208556" y="1647209"/>
            <a:ext cx="289442" cy="8464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вниз 5"/>
          <p:cNvSpPr/>
          <p:nvPr/>
        </p:nvSpPr>
        <p:spPr>
          <a:xfrm rot="2648505">
            <a:off x="3889777" y="1616925"/>
            <a:ext cx="289442" cy="8464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97155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>
                <a:solidFill>
                  <a:srgbClr val="C00000"/>
                </a:solidFill>
              </a:rPr>
              <a:t>Глаголы </a:t>
            </a:r>
            <a:br>
              <a:rPr lang="ru-RU" sz="2400" dirty="0" smtClean="0">
                <a:solidFill>
                  <a:srgbClr val="C00000"/>
                </a:solidFill>
              </a:rPr>
            </a:br>
            <a:r>
              <a:rPr lang="ru-RU" sz="2400" dirty="0" smtClean="0">
                <a:solidFill>
                  <a:srgbClr val="C00000"/>
                </a:solidFill>
              </a:rPr>
              <a:t>направленного действия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275606"/>
            <a:ext cx="8892480" cy="3528392"/>
          </a:xfrm>
        </p:spPr>
        <p:txBody>
          <a:bodyPr>
            <a:normAutofit/>
          </a:bodyPr>
          <a:lstStyle/>
          <a:p>
            <a:r>
              <a:rPr lang="ja-JP" altLang="en-US" sz="2800" dirty="0" smtClean="0"/>
              <a:t>きむらさんはやまださん</a:t>
            </a:r>
            <a:r>
              <a:rPr lang="ja-JP" altLang="en-US" sz="2800" dirty="0" smtClean="0">
                <a:solidFill>
                  <a:srgbClr val="C00000"/>
                </a:solidFill>
              </a:rPr>
              <a:t>に</a:t>
            </a:r>
            <a:r>
              <a:rPr lang="ja-JP" altLang="en-US" sz="2800" dirty="0" smtClean="0"/>
              <a:t>はなを</a:t>
            </a:r>
            <a:r>
              <a:rPr lang="ja-JP" altLang="en-US" sz="2800" dirty="0" smtClean="0">
                <a:solidFill>
                  <a:srgbClr val="C00000"/>
                </a:solidFill>
              </a:rPr>
              <a:t>もらいました</a:t>
            </a:r>
            <a:r>
              <a:rPr lang="ja-JP" altLang="en-US" sz="2800" dirty="0" smtClean="0"/>
              <a:t>。</a:t>
            </a:r>
            <a:endParaRPr lang="ru-RU" altLang="ja-JP" sz="2800" dirty="0" smtClean="0"/>
          </a:p>
          <a:p>
            <a:pPr>
              <a:buNone/>
            </a:pPr>
            <a:r>
              <a:rPr lang="ru-RU" sz="2600" dirty="0" smtClean="0"/>
              <a:t>Г-жа </a:t>
            </a:r>
            <a:r>
              <a:rPr lang="ru-RU" sz="2600" dirty="0" err="1" smtClean="0"/>
              <a:t>Кимура</a:t>
            </a:r>
            <a:r>
              <a:rPr lang="ru-RU" sz="2600" dirty="0" smtClean="0"/>
              <a:t> получила цветы от г-на </a:t>
            </a:r>
            <a:r>
              <a:rPr lang="ru-RU" sz="2600" dirty="0" err="1" smtClean="0"/>
              <a:t>Ямада</a:t>
            </a:r>
            <a:r>
              <a:rPr lang="ru-RU" sz="2600" dirty="0" smtClean="0"/>
              <a:t>.</a:t>
            </a:r>
          </a:p>
          <a:p>
            <a:r>
              <a:rPr lang="ja-JP" altLang="en-US" dirty="0" smtClean="0"/>
              <a:t>カリナさん</a:t>
            </a:r>
            <a:r>
              <a:rPr lang="ja-JP" altLang="en-US" dirty="0" smtClean="0">
                <a:solidFill>
                  <a:srgbClr val="C00000"/>
                </a:solidFill>
              </a:rPr>
              <a:t>に</a:t>
            </a:r>
            <a:r>
              <a:rPr lang="ja-JP" altLang="en-US" dirty="0" smtClean="0"/>
              <a:t>えんぴつを</a:t>
            </a:r>
            <a:r>
              <a:rPr lang="ja-JP" altLang="en-US" dirty="0" smtClean="0">
                <a:solidFill>
                  <a:srgbClr val="C00000"/>
                </a:solidFill>
              </a:rPr>
              <a:t>かりました</a:t>
            </a:r>
            <a:r>
              <a:rPr lang="ja-JP" altLang="en-US" dirty="0" smtClean="0"/>
              <a:t>。</a:t>
            </a:r>
            <a:endParaRPr lang="ru-RU" altLang="ja-JP" dirty="0" smtClean="0"/>
          </a:p>
          <a:p>
            <a:pPr>
              <a:buNone/>
            </a:pPr>
            <a:r>
              <a:rPr lang="ru-RU" sz="2600" dirty="0" smtClean="0"/>
              <a:t>Я одолжил карандаш </a:t>
            </a:r>
            <a:r>
              <a:rPr lang="ru-RU" sz="2600" dirty="0" err="1" smtClean="0"/>
              <a:t>Карине</a:t>
            </a:r>
            <a:r>
              <a:rPr lang="ru-RU" sz="2600" dirty="0" smtClean="0"/>
              <a:t>.</a:t>
            </a:r>
          </a:p>
          <a:p>
            <a:r>
              <a:rPr lang="ja-JP" altLang="en-US" dirty="0" smtClean="0"/>
              <a:t>ワンさん</a:t>
            </a:r>
            <a:r>
              <a:rPr lang="ja-JP" altLang="en-US" dirty="0" smtClean="0">
                <a:solidFill>
                  <a:srgbClr val="C00000"/>
                </a:solidFill>
              </a:rPr>
              <a:t>に</a:t>
            </a:r>
            <a:r>
              <a:rPr lang="ja-JP" altLang="en-US" dirty="0" smtClean="0"/>
              <a:t>ちゅうごくごを</a:t>
            </a:r>
            <a:r>
              <a:rPr lang="ja-JP" altLang="en-US" dirty="0" smtClean="0">
                <a:solidFill>
                  <a:srgbClr val="C00000"/>
                </a:solidFill>
              </a:rPr>
              <a:t>ならいます</a:t>
            </a:r>
            <a:r>
              <a:rPr lang="ja-JP" altLang="en-US" dirty="0" smtClean="0"/>
              <a:t>。</a:t>
            </a:r>
            <a:endParaRPr lang="ru-RU" altLang="ja-JP" dirty="0" smtClean="0"/>
          </a:p>
          <a:p>
            <a:pPr>
              <a:buNone/>
            </a:pPr>
            <a:r>
              <a:rPr lang="ru-RU" sz="2600" dirty="0" smtClean="0"/>
              <a:t>Я учусь китайскому языку у г-на </a:t>
            </a:r>
            <a:r>
              <a:rPr lang="ru-RU" sz="2600" dirty="0" err="1" smtClean="0"/>
              <a:t>Вана</a:t>
            </a:r>
            <a:r>
              <a:rPr lang="ru-RU" sz="2600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97155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>
                <a:solidFill>
                  <a:srgbClr val="C00000"/>
                </a:solidFill>
              </a:rPr>
              <a:t>Глаголы </a:t>
            </a:r>
            <a:br>
              <a:rPr lang="ru-RU" sz="2400" dirty="0" smtClean="0">
                <a:solidFill>
                  <a:srgbClr val="C00000"/>
                </a:solidFill>
              </a:rPr>
            </a:br>
            <a:r>
              <a:rPr lang="ru-RU" sz="2400" dirty="0" smtClean="0">
                <a:solidFill>
                  <a:srgbClr val="C00000"/>
                </a:solidFill>
              </a:rPr>
              <a:t>направленного действия</a:t>
            </a:r>
            <a:endParaRPr lang="ru-RU" sz="24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827584" y="1165225"/>
          <a:ext cx="777686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7388"/>
                <a:gridCol w="3929476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ja-JP" altLang="en-US" sz="2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に</a:t>
                      </a:r>
                      <a:endParaRPr lang="ru-RU" sz="2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 ГЛ 1 группы</a:t>
                      </a:r>
                    </a:p>
                    <a:p>
                      <a:pPr algn="ctr"/>
                      <a:r>
                        <a:rPr kumimoji="0"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после того, на кого направлено это действие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u="sng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 ГЛ 2 группы</a:t>
                      </a:r>
                    </a:p>
                    <a:p>
                      <a:pPr algn="ctr"/>
                      <a:r>
                        <a:rPr kumimoji="0"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после того, от кого вы получаете действие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Рисунок 4" descr="1075619-daf1fb526f879458e40bd04c9049175be7ccc56a836ec64d72f89a70dbab15fe08e894a5833107e3131dbf75bc402f2185b484f26d0a1287ede27fe36f7f0d2d4fb8e32149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47864" y="2455540"/>
            <a:ext cx="2687960" cy="268796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97155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>
                <a:solidFill>
                  <a:srgbClr val="C00000"/>
                </a:solidFill>
              </a:rPr>
              <a:t>Завершенность </a:t>
            </a:r>
            <a:br>
              <a:rPr lang="ru-RU" sz="2400" dirty="0" smtClean="0">
                <a:solidFill>
                  <a:srgbClr val="C00000"/>
                </a:solidFill>
              </a:rPr>
            </a:br>
            <a:r>
              <a:rPr lang="ru-RU" sz="2400" dirty="0" smtClean="0">
                <a:solidFill>
                  <a:srgbClr val="C00000"/>
                </a:solidFill>
              </a:rPr>
              <a:t>действия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1059582"/>
            <a:ext cx="8686800" cy="3500512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dirty="0" smtClean="0"/>
              <a:t>もう</a:t>
            </a:r>
            <a:r>
              <a:rPr lang="ru-RU" altLang="ja-JP" dirty="0" smtClean="0"/>
              <a:t>+</a:t>
            </a:r>
            <a:r>
              <a:rPr lang="ru-RU" dirty="0" smtClean="0"/>
              <a:t>ГЛ в прошедшем времени</a:t>
            </a:r>
          </a:p>
          <a:p>
            <a:pPr>
              <a:buNone/>
            </a:pPr>
            <a:r>
              <a:rPr lang="ja-JP" altLang="en-US" dirty="0" smtClean="0">
                <a:solidFill>
                  <a:srgbClr val="C00000"/>
                </a:solidFill>
              </a:rPr>
              <a:t>もう</a:t>
            </a:r>
            <a:r>
              <a:rPr lang="ja-JP" altLang="en-US" dirty="0" smtClean="0"/>
              <a:t>しゅくだいをしましたか。</a:t>
            </a:r>
            <a:endParaRPr lang="ru-RU" altLang="ja-JP" sz="2400" dirty="0" smtClean="0"/>
          </a:p>
          <a:p>
            <a:pPr>
              <a:buNone/>
            </a:pPr>
            <a:r>
              <a:rPr lang="ru-RU" sz="2400" dirty="0" smtClean="0"/>
              <a:t>Уже сделал домашнее задание?</a:t>
            </a:r>
            <a:endParaRPr lang="ru-RU" dirty="0" smtClean="0"/>
          </a:p>
          <a:p>
            <a:pPr>
              <a:lnSpc>
                <a:spcPct val="150000"/>
              </a:lnSpc>
              <a:buNone/>
            </a:pPr>
            <a:r>
              <a:rPr lang="ja-JP" altLang="en-US" dirty="0" smtClean="0"/>
              <a:t>はい、</a:t>
            </a:r>
            <a:r>
              <a:rPr lang="ja-JP" altLang="en-US" dirty="0" smtClean="0">
                <a:solidFill>
                  <a:srgbClr val="C00000"/>
                </a:solidFill>
              </a:rPr>
              <a:t>もう</a:t>
            </a:r>
            <a:r>
              <a:rPr lang="ja-JP" altLang="en-US" dirty="0" smtClean="0"/>
              <a:t>しました。</a:t>
            </a:r>
            <a:r>
              <a:rPr lang="ru-RU" altLang="ja-JP" sz="2400" dirty="0" smtClean="0"/>
              <a:t>- Да, уже сделал.</a:t>
            </a:r>
            <a:endParaRPr lang="ru-RU" dirty="0" smtClean="0"/>
          </a:p>
          <a:p>
            <a:pPr>
              <a:buNone/>
            </a:pPr>
            <a:r>
              <a:rPr lang="ja-JP" altLang="en-US" dirty="0" smtClean="0"/>
              <a:t>いいえ、</a:t>
            </a:r>
            <a:r>
              <a:rPr lang="ja-JP" altLang="en-US" dirty="0" smtClean="0">
                <a:solidFill>
                  <a:srgbClr val="C00000"/>
                </a:solidFill>
              </a:rPr>
              <a:t>まだ</a:t>
            </a:r>
            <a:r>
              <a:rPr lang="ja-JP" altLang="en-US" dirty="0" smtClean="0"/>
              <a:t>です。</a:t>
            </a:r>
            <a:r>
              <a:rPr lang="ru-RU" sz="2400" dirty="0" smtClean="0"/>
              <a:t>- Нет, еще не сделал.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97155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C00000"/>
                </a:solidFill>
              </a:rPr>
              <a:t>лексика</a:t>
            </a:r>
            <a:endParaRPr lang="ru-RU" dirty="0">
              <a:solidFill>
                <a:srgbClr val="C00000"/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331640" y="843558"/>
          <a:ext cx="6480720" cy="4104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/>
                <a:gridCol w="2160240"/>
                <a:gridCol w="2160240"/>
              </a:tblGrid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Значение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err="1" smtClean="0"/>
                        <a:t>Хирагана</a:t>
                      </a:r>
                      <a:r>
                        <a:rPr lang="ru-RU" sz="1400" dirty="0" smtClean="0"/>
                        <a:t>/ </a:t>
                      </a:r>
                      <a:r>
                        <a:rPr lang="ru-RU" sz="1400" dirty="0" err="1" smtClean="0"/>
                        <a:t>Катакана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err="1" smtClean="0"/>
                        <a:t>Кандзи</a:t>
                      </a:r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Резать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きります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切ります</a:t>
                      </a:r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Посылать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おくります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送ります</a:t>
                      </a:r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Звонить</a:t>
                      </a:r>
                      <a:r>
                        <a:rPr lang="ru-RU" sz="1400" baseline="0" dirty="0" smtClean="0"/>
                        <a:t>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かけます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掛けます</a:t>
                      </a:r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Рука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て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手</a:t>
                      </a:r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Палочки для еды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はし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箸</a:t>
                      </a:r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Ложка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スプーン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Нож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ナイフ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Вилка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フォーク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Ножницы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はさみ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鋏</a:t>
                      </a:r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ПК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パソコン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Ластик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けしゴム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</a:tr>
              <a:tr h="315727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Бумага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かみ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紙</a:t>
                      </a:r>
                      <a:endParaRPr lang="ru-RU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23478"/>
            <a:ext cx="8542784" cy="77155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C00000"/>
                </a:solidFill>
              </a:rPr>
              <a:t>лексика</a:t>
            </a:r>
            <a:endParaRPr lang="ru-RU" dirty="0">
              <a:solidFill>
                <a:srgbClr val="C00000"/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043607" y="1165225"/>
          <a:ext cx="698477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259"/>
                <a:gridCol w="2328259"/>
                <a:gridCol w="2328259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Значение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err="1" smtClean="0"/>
                        <a:t>Хирагана</a:t>
                      </a:r>
                      <a:r>
                        <a:rPr lang="ru-RU" sz="1400" dirty="0" smtClean="0"/>
                        <a:t>/ </a:t>
                      </a:r>
                      <a:r>
                        <a:rPr lang="ru-RU" sz="1400" dirty="0" err="1" smtClean="0"/>
                        <a:t>Катакана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err="1" smtClean="0"/>
                        <a:t>Кандзи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Цветок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はな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花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Рубашка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シャツ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Подарок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プレゼント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Багаж</a:t>
                      </a:r>
                      <a:r>
                        <a:rPr lang="ru-RU" sz="1400" baseline="0" dirty="0" smtClean="0"/>
                        <a:t>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にもつ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荷物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Деньги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おかね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お金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Билет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きっぷ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切符</a:t>
                      </a:r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Рождество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クリスマス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Новый год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おしょうがつ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 smtClean="0"/>
                        <a:t>お正月</a:t>
                      </a:r>
                      <a:endParaRPr lang="ru-RU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ja-JP" altLang="en-US" dirty="0" smtClean="0">
                <a:solidFill>
                  <a:srgbClr val="C00000"/>
                </a:solidFill>
              </a:rPr>
              <a:t>しゅくだい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203598"/>
            <a:ext cx="8812088" cy="3356496"/>
          </a:xfrm>
        </p:spPr>
        <p:txBody>
          <a:bodyPr>
            <a:normAutofit/>
          </a:bodyPr>
          <a:lstStyle/>
          <a:p>
            <a:r>
              <a:rPr lang="ru-RU" dirty="0" smtClean="0"/>
              <a:t>Учить:</a:t>
            </a:r>
          </a:p>
          <a:p>
            <a:pPr>
              <a:buFontTx/>
              <a:buChar char="-"/>
            </a:pPr>
            <a:r>
              <a:rPr lang="ru-RU" dirty="0" err="1" smtClean="0"/>
              <a:t>кандзи</a:t>
            </a:r>
            <a:endParaRPr lang="ru-RU" dirty="0" smtClean="0"/>
          </a:p>
          <a:p>
            <a:pPr>
              <a:buFontTx/>
              <a:buChar char="-"/>
            </a:pPr>
            <a:r>
              <a:rPr lang="ru-RU" dirty="0" smtClean="0"/>
              <a:t>слова </a:t>
            </a:r>
          </a:p>
          <a:p>
            <a:r>
              <a:rPr lang="ru-RU" dirty="0" smtClean="0"/>
              <a:t>Выполнить упражнения</a:t>
            </a:r>
          </a:p>
        </p:txBody>
      </p:sp>
      <p:pic>
        <p:nvPicPr>
          <p:cNvPr id="4" name="Рисунок 3" descr="Аллен_Уолкер_Hallow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99992" y="508475"/>
            <a:ext cx="3723828" cy="4635025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1870</TotalTime>
  <Words>656</Words>
  <Application>Microsoft Office PowerPoint</Application>
  <PresentationFormat>Экран (16:9)</PresentationFormat>
  <Paragraphs>159</Paragraphs>
  <Slides>24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Трек</vt:lpstr>
      <vt:lpstr>日本語  第8課</vt:lpstr>
      <vt:lpstr>План 8 урока</vt:lpstr>
      <vt:lpstr>кандзи</vt:lpstr>
      <vt:lpstr>кандзи</vt:lpstr>
      <vt:lpstr>кандзи</vt:lpstr>
      <vt:lpstr>кандзи</vt:lpstr>
      <vt:lpstr>кандзи</vt:lpstr>
      <vt:lpstr>кандзи</vt:lpstr>
      <vt:lpstr>кандзи</vt:lpstr>
      <vt:lpstr>кандзи</vt:lpstr>
      <vt:lpstr>кандзи</vt:lpstr>
      <vt:lpstr>кандзи</vt:lpstr>
      <vt:lpstr>Приглашение  к действию</vt:lpstr>
      <vt:lpstr>Приглашение  к действию</vt:lpstr>
      <vt:lpstr>Приглашение  к действию</vt:lpstr>
      <vt:lpstr>Глаголы  направленного действия</vt:lpstr>
      <vt:lpstr>Глаголы  направленного действия</vt:lpstr>
      <vt:lpstr>Глаголы  направленного действия</vt:lpstr>
      <vt:lpstr>Глаголы  направленного действия</vt:lpstr>
      <vt:lpstr>Глаголы  направленного действия</vt:lpstr>
      <vt:lpstr>Завершенность  действия</vt:lpstr>
      <vt:lpstr>лексика</vt:lpstr>
      <vt:lpstr>лексика</vt:lpstr>
      <vt:lpstr>しゅくだい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Елена Супруненко</dc:creator>
  <cp:lastModifiedBy>Елена Супруненко</cp:lastModifiedBy>
  <cp:revision>186</cp:revision>
  <dcterms:created xsi:type="dcterms:W3CDTF">2018-12-19T11:24:56Z</dcterms:created>
  <dcterms:modified xsi:type="dcterms:W3CDTF">2019-02-02T10:10:47Z</dcterms:modified>
</cp:coreProperties>
</file>