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77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9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59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8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5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23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12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1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69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92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9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6874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418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24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159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822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44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9876891-98C8-4F87-942C-345884CB25B3}" type="datetimeFigureOut">
              <a:rPr lang="ru-RU" smtClean="0"/>
              <a:t>17.10.2021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24E90E8-7C46-4C63-8E7A-C9C5C1F700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54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30939" y="598821"/>
            <a:ext cx="8689976" cy="2509213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受身形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/>
              <a:t>うけみけ</a:t>
            </a:r>
            <a:r>
              <a:rPr lang="ja-JP" altLang="en-US" dirty="0" smtClean="0"/>
              <a:t>い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ru-RU" altLang="ja-JP" sz="4400" dirty="0" smtClean="0"/>
              <a:t>Пассивный(страдательный)залог</a:t>
            </a:r>
            <a:br>
              <a:rPr lang="ru-RU" altLang="ja-JP" sz="4400" dirty="0" smtClean="0"/>
            </a:br>
            <a:r>
              <a:rPr lang="ru-RU" altLang="ja-JP" sz="3100" dirty="0" smtClean="0"/>
              <a:t>(«было сказано», «было основано» и т.д.)</a:t>
            </a:r>
            <a:endParaRPr lang="ru-RU" sz="3100" dirty="0"/>
          </a:p>
        </p:txBody>
      </p:sp>
      <p:pic>
        <p:nvPicPr>
          <p:cNvPr id="1026" name="Picture 2" descr="https://s.zefirka.net/images/2016-11-24/koty-i-dozhd/koty-i-dozhd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55" y="3108034"/>
            <a:ext cx="5221720" cy="348312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47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0364" y="369455"/>
            <a:ext cx="764770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/>
              <a:t>受身</a:t>
            </a:r>
            <a:r>
              <a:rPr lang="ja-JP" altLang="en-US" sz="2800" b="1" dirty="0" smtClean="0"/>
              <a:t>形の作り方</a:t>
            </a:r>
            <a:endParaRPr lang="ru-RU" altLang="ja-JP" sz="2800" b="1" dirty="0" smtClean="0"/>
          </a:p>
          <a:p>
            <a:pPr algn="ctr"/>
            <a:r>
              <a:rPr lang="ru-RU" sz="2800" b="1" dirty="0" smtClean="0"/>
              <a:t>Образование формы пассивного залога</a:t>
            </a:r>
          </a:p>
          <a:p>
            <a:endParaRPr lang="ru-RU" dirty="0"/>
          </a:p>
          <a:p>
            <a:r>
              <a:rPr lang="en-US" altLang="ja-JP" sz="2800" b="1" dirty="0" smtClean="0"/>
              <a:t>1</a:t>
            </a:r>
            <a:r>
              <a:rPr lang="ja-JP" altLang="en-US" sz="2800" b="1" dirty="0" smtClean="0"/>
              <a:t>グループ</a:t>
            </a:r>
            <a:endParaRPr lang="ru-RU" altLang="ja-JP" sz="2800" b="1" dirty="0" smtClean="0"/>
          </a:p>
          <a:p>
            <a:endParaRPr lang="en-US" sz="2400" dirty="0" smtClean="0"/>
          </a:p>
          <a:p>
            <a:r>
              <a:rPr lang="ru-RU" sz="2400" dirty="0"/>
              <a:t>*</a:t>
            </a:r>
            <a:r>
              <a:rPr lang="ru-RU" sz="2400" dirty="0" smtClean="0"/>
              <a:t>Основа глагола в </a:t>
            </a:r>
            <a:r>
              <a:rPr lang="ja-JP" altLang="en-US" sz="2400" dirty="0" smtClean="0"/>
              <a:t>ます　けい</a:t>
            </a:r>
            <a:r>
              <a:rPr lang="ru-RU" altLang="ja-JP" sz="2400" dirty="0" smtClean="0"/>
              <a:t>  (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のみ</a:t>
            </a:r>
            <a:r>
              <a:rPr lang="ja-JP" altLang="en-US" sz="2400" dirty="0" smtClean="0"/>
              <a:t>ます</a:t>
            </a:r>
            <a:r>
              <a:rPr lang="ru-RU" altLang="ja-JP" sz="2400" dirty="0" smtClean="0"/>
              <a:t>) меняет последний слог (</a:t>
            </a:r>
            <a:r>
              <a:rPr lang="ja-JP" altLang="en-US" sz="2400" dirty="0" smtClean="0"/>
              <a:t>の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み</a:t>
            </a:r>
            <a:r>
              <a:rPr lang="ja-JP" altLang="en-US" sz="2400" dirty="0" smtClean="0"/>
              <a:t>ます）　</a:t>
            </a:r>
            <a:r>
              <a:rPr lang="ru-RU" altLang="ja-JP" sz="2400" dirty="0" smtClean="0"/>
              <a:t>на слог с 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あ</a:t>
            </a:r>
            <a:r>
              <a:rPr lang="ru-RU" altLang="ja-JP" sz="24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ja-JP" altLang="en-US" sz="2400" b="1" dirty="0" smtClean="0"/>
              <a:t>（の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ま。。</a:t>
            </a:r>
            <a:r>
              <a:rPr lang="ja-JP" altLang="en-US" sz="2400" b="1" dirty="0" smtClean="0"/>
              <a:t>）</a:t>
            </a:r>
            <a:r>
              <a:rPr lang="ru-RU" altLang="ja-JP" sz="2400" b="1" dirty="0" smtClean="0">
                <a:solidFill>
                  <a:schemeClr val="accent1">
                    <a:lumMod val="75000"/>
                  </a:schemeClr>
                </a:solidFill>
              </a:rPr>
              <a:t>,</a:t>
            </a:r>
            <a:r>
              <a:rPr lang="ru-RU" altLang="ja-JP" sz="2400" b="1" dirty="0" smtClean="0"/>
              <a:t> и добавляется 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れ</a:t>
            </a:r>
            <a:r>
              <a:rPr lang="ja-JP" altLang="en-US" sz="2400" b="1" dirty="0" smtClean="0"/>
              <a:t>ます。</a:t>
            </a:r>
            <a:endParaRPr lang="en-US" altLang="ja-JP" sz="2400" b="1" dirty="0" smtClean="0"/>
          </a:p>
          <a:p>
            <a:endParaRPr lang="en-US" altLang="ja-JP" sz="2400" b="1" dirty="0" smtClean="0"/>
          </a:p>
          <a:p>
            <a:r>
              <a:rPr lang="ja-JP" altLang="en-US" sz="2400" b="1" dirty="0"/>
              <a:t>の</a:t>
            </a:r>
            <a:r>
              <a:rPr lang="ja-JP" altLang="en-US" sz="2400" b="1" dirty="0">
                <a:solidFill>
                  <a:schemeClr val="accent1">
                    <a:lumMod val="75000"/>
                  </a:schemeClr>
                </a:solidFill>
              </a:rPr>
              <a:t>み</a:t>
            </a:r>
            <a:r>
              <a:rPr lang="ja-JP" altLang="en-US" sz="2400" b="1" dirty="0"/>
              <a:t>ま</a:t>
            </a:r>
            <a:r>
              <a:rPr lang="ja-JP" altLang="en-US" sz="2400" b="1" dirty="0" smtClean="0"/>
              <a:t>すー　の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まれ</a:t>
            </a:r>
            <a:r>
              <a:rPr lang="ja-JP" altLang="en-US" sz="2400" b="1" dirty="0" smtClean="0"/>
              <a:t>ます　　　　のむーの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まれ</a:t>
            </a:r>
            <a:r>
              <a:rPr lang="ja-JP" altLang="en-US" sz="2400" b="1" dirty="0" smtClean="0"/>
              <a:t>る</a:t>
            </a:r>
            <a:endParaRPr lang="en-US" altLang="ja-JP" sz="2400" b="1" dirty="0" smtClean="0"/>
          </a:p>
          <a:p>
            <a:r>
              <a:rPr lang="ja-JP" altLang="en-US" sz="2400" b="1" dirty="0" smtClean="0"/>
              <a:t>い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い</a:t>
            </a:r>
            <a:r>
              <a:rPr lang="ja-JP" altLang="en-US" sz="2400" b="1" dirty="0" smtClean="0"/>
              <a:t>ますー　い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われ</a:t>
            </a:r>
            <a:r>
              <a:rPr lang="ja-JP" altLang="en-US" sz="2400" b="1" dirty="0" smtClean="0"/>
              <a:t>ます　　　　いうーい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われ</a:t>
            </a:r>
            <a:r>
              <a:rPr lang="ja-JP" altLang="en-US" sz="2400" b="1" dirty="0" smtClean="0"/>
              <a:t>る</a:t>
            </a:r>
            <a:endParaRPr lang="en-US" altLang="ja-JP" sz="2400" b="1" dirty="0" smtClean="0"/>
          </a:p>
          <a:p>
            <a:r>
              <a:rPr lang="ja-JP" altLang="en-US" sz="2400" b="1" dirty="0"/>
              <a:t>おも</a:t>
            </a:r>
            <a:r>
              <a:rPr lang="ja-JP" altLang="en-US" sz="2400" b="1" dirty="0">
                <a:solidFill>
                  <a:schemeClr val="accent1">
                    <a:lumMod val="75000"/>
                  </a:schemeClr>
                </a:solidFill>
              </a:rPr>
              <a:t>い</a:t>
            </a:r>
            <a:r>
              <a:rPr lang="ja-JP" altLang="en-US" sz="2400" b="1" dirty="0"/>
              <a:t>ま</a:t>
            </a:r>
            <a:r>
              <a:rPr lang="ja-JP" altLang="en-US" sz="2400" b="1" dirty="0" smtClean="0"/>
              <a:t>すーおも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わ</a:t>
            </a:r>
            <a:r>
              <a:rPr lang="ja-JP" altLang="en-US" sz="2400" b="1" dirty="0" smtClean="0"/>
              <a:t>れます　　おもうーおも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われ</a:t>
            </a:r>
            <a:r>
              <a:rPr lang="ja-JP" altLang="en-US" sz="2400" b="1" dirty="0" smtClean="0"/>
              <a:t>る</a:t>
            </a:r>
            <a:endParaRPr lang="en-US" altLang="ja-JP" sz="2400" b="1" dirty="0" smtClean="0"/>
          </a:p>
          <a:p>
            <a:r>
              <a:rPr lang="ja-JP" altLang="en-US" sz="2400" b="1" dirty="0"/>
              <a:t>つく</a:t>
            </a:r>
            <a:r>
              <a:rPr lang="ja-JP" altLang="en-US" sz="2400" b="1" dirty="0">
                <a:solidFill>
                  <a:schemeClr val="accent1">
                    <a:lumMod val="75000"/>
                  </a:schemeClr>
                </a:solidFill>
              </a:rPr>
              <a:t>り</a:t>
            </a:r>
            <a:r>
              <a:rPr lang="ja-JP" altLang="en-US" sz="2400" b="1" dirty="0"/>
              <a:t>ま</a:t>
            </a:r>
            <a:r>
              <a:rPr lang="ja-JP" altLang="en-US" sz="2400" b="1" dirty="0" smtClean="0"/>
              <a:t>すー　つくら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れ</a:t>
            </a:r>
            <a:r>
              <a:rPr lang="ja-JP" altLang="en-US" sz="2400" b="1" dirty="0" smtClean="0"/>
              <a:t>ます　　つくるーつく</a:t>
            </a:r>
            <a:r>
              <a:rPr lang="ja-JP" altLang="en-US" sz="2400" b="1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400" b="1" dirty="0" smtClean="0"/>
              <a:t>る</a:t>
            </a:r>
            <a:endParaRPr lang="en-US" altLang="ja-JP" sz="2400" b="1" dirty="0" smtClean="0"/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050" name="Picture 2" descr="https://susanin.news/upload/iblock/792/792f3667de2a7f50bb23007a3f63ecc0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00392">
            <a:off x="-509063" y="2774813"/>
            <a:ext cx="4118696" cy="23159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5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15127" y="304800"/>
            <a:ext cx="858981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smtClean="0"/>
              <a:t>2</a:t>
            </a:r>
            <a:r>
              <a:rPr lang="ja-JP" altLang="en-US" sz="2800" b="1" dirty="0" smtClean="0"/>
              <a:t>グループ</a:t>
            </a:r>
            <a:endParaRPr lang="ru-RU" altLang="ja-JP" sz="2800" b="1" dirty="0" smtClean="0"/>
          </a:p>
          <a:p>
            <a:endParaRPr lang="ru-RU" altLang="ja-JP" dirty="0"/>
          </a:p>
          <a:p>
            <a:r>
              <a:rPr lang="ja-JP" altLang="en-US" sz="2800" dirty="0" smtClean="0"/>
              <a:t>*</a:t>
            </a:r>
            <a:r>
              <a:rPr lang="ru-RU" altLang="ja-JP" sz="2800" dirty="0" smtClean="0"/>
              <a:t>К основе глагола в </a:t>
            </a:r>
            <a:r>
              <a:rPr lang="ja-JP" altLang="en-US" sz="2800" dirty="0" smtClean="0"/>
              <a:t>ます　けい</a:t>
            </a:r>
            <a:r>
              <a:rPr lang="ru-RU" altLang="ja-JP" sz="2800" dirty="0" smtClean="0"/>
              <a:t> добавляем  </a:t>
            </a:r>
            <a:r>
              <a:rPr lang="ja-JP" altLang="en-US" sz="2800" dirty="0" smtClean="0"/>
              <a:t>られ</a:t>
            </a:r>
            <a:r>
              <a:rPr lang="ja-JP" altLang="en-US" sz="2800" dirty="0"/>
              <a:t>ま</a:t>
            </a:r>
            <a:r>
              <a:rPr lang="ja-JP" altLang="en-US" sz="2800" dirty="0" smtClean="0"/>
              <a:t>す</a:t>
            </a:r>
            <a:r>
              <a:rPr lang="ja-JP" altLang="en-US" sz="2800" dirty="0"/>
              <a:t>　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たべ</a:t>
            </a:r>
            <a:r>
              <a:rPr lang="ja-JP" altLang="en-US" sz="2800" dirty="0" smtClean="0"/>
              <a:t>ますーたべ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ます</a:t>
            </a:r>
            <a:endParaRPr lang="en-US" altLang="ja-JP" sz="2800" dirty="0" smtClean="0"/>
          </a:p>
          <a:p>
            <a:r>
              <a:rPr lang="ru-RU" altLang="ja-JP" sz="2800" dirty="0" smtClean="0"/>
              <a:t>(совпадает с формой потенциального залога)</a:t>
            </a:r>
          </a:p>
          <a:p>
            <a:endParaRPr lang="ru-RU" altLang="ja-JP" sz="2800" dirty="0"/>
          </a:p>
          <a:p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とめ</a:t>
            </a:r>
            <a:r>
              <a:rPr lang="ja-JP" altLang="en-US" sz="2800" dirty="0" smtClean="0"/>
              <a:t>ますーとめ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ます　　とめるーとめ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る</a:t>
            </a:r>
            <a:endParaRPr lang="en-US" altLang="ja-JP" sz="2800" dirty="0" smtClean="0"/>
          </a:p>
          <a:p>
            <a:r>
              <a:rPr lang="ja-JP" altLang="en-US" sz="2800" dirty="0">
                <a:solidFill>
                  <a:schemeClr val="accent1">
                    <a:lumMod val="75000"/>
                  </a:schemeClr>
                </a:solidFill>
              </a:rPr>
              <a:t>わすれ</a:t>
            </a:r>
            <a:r>
              <a:rPr lang="ja-JP" altLang="en-US" sz="2800" dirty="0"/>
              <a:t>ます</a:t>
            </a:r>
            <a:r>
              <a:rPr lang="ja-JP" altLang="en-US" sz="2800" dirty="0" smtClean="0"/>
              <a:t>ーわす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ます　　わすれるーわす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る</a:t>
            </a:r>
            <a:endParaRPr lang="en-US" altLang="ja-JP" sz="2800" dirty="0" smtClean="0"/>
          </a:p>
          <a:p>
            <a:r>
              <a:rPr lang="ja-JP" altLang="en-US" sz="2800" dirty="0">
                <a:solidFill>
                  <a:schemeClr val="accent1">
                    <a:lumMod val="75000"/>
                  </a:schemeClr>
                </a:solidFill>
              </a:rPr>
              <a:t>き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め</a:t>
            </a:r>
            <a:r>
              <a:rPr lang="ja-JP" altLang="en-US" sz="2800" dirty="0"/>
              <a:t>ます</a:t>
            </a:r>
            <a:r>
              <a:rPr lang="ja-JP" altLang="en-US" sz="2800" dirty="0" smtClean="0"/>
              <a:t>ーきめ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ます　　　きめるーきめ</a:t>
            </a:r>
            <a:r>
              <a:rPr lang="ja-JP" altLang="en-US" sz="28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800" dirty="0" smtClean="0"/>
              <a:t>る</a:t>
            </a:r>
            <a:r>
              <a:rPr lang="ru-RU" altLang="ja-JP" sz="2800" dirty="0" smtClean="0"/>
              <a:t> </a:t>
            </a:r>
            <a:endParaRPr lang="en-US" altLang="ja-JP" sz="2800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3074" name="Picture 2" descr="https://art.mau.ru/foto_cats/fun/fun0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31" y="4248726"/>
            <a:ext cx="3341150" cy="250586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76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0073" y="738910"/>
            <a:ext cx="78416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smtClean="0"/>
              <a:t>3</a:t>
            </a:r>
            <a:r>
              <a:rPr lang="ja-JP" altLang="en-US" sz="2400" b="1" dirty="0" smtClean="0"/>
              <a:t>グループ</a:t>
            </a:r>
            <a:endParaRPr lang="en-US" altLang="ja-JP" sz="2400" b="1" dirty="0" smtClean="0"/>
          </a:p>
          <a:p>
            <a:endParaRPr lang="en-US" dirty="0"/>
          </a:p>
          <a:p>
            <a:r>
              <a:rPr lang="ja-JP" altLang="en-US" sz="2400" dirty="0" smtClean="0"/>
              <a:t>*しますー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され</a:t>
            </a:r>
            <a:r>
              <a:rPr lang="ja-JP" altLang="en-US" sz="2400" dirty="0" smtClean="0"/>
              <a:t>ます　　するー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され</a:t>
            </a:r>
            <a:r>
              <a:rPr lang="ja-JP" altLang="en-US" sz="2400" dirty="0" smtClean="0"/>
              <a:t>る</a:t>
            </a:r>
            <a:endParaRPr lang="en-US" altLang="ja-JP" sz="2400" dirty="0" smtClean="0"/>
          </a:p>
          <a:p>
            <a:r>
              <a:rPr lang="ja-JP" altLang="en-US" sz="2400" dirty="0" smtClean="0"/>
              <a:t>*きますー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こられ</a:t>
            </a:r>
            <a:r>
              <a:rPr lang="ja-JP" altLang="en-US" sz="2400" dirty="0" smtClean="0"/>
              <a:t>ます　　くるー</a:t>
            </a:r>
            <a:r>
              <a:rPr lang="ja-JP" altLang="en-US" sz="2400" dirty="0" smtClean="0">
                <a:solidFill>
                  <a:schemeClr val="accent1">
                    <a:lumMod val="75000"/>
                  </a:schemeClr>
                </a:solidFill>
              </a:rPr>
              <a:t>こられ</a:t>
            </a:r>
            <a:r>
              <a:rPr lang="ja-JP" altLang="en-US" sz="2400" dirty="0" smtClean="0"/>
              <a:t>る</a:t>
            </a:r>
            <a:endParaRPr lang="ru-RU" sz="2400" dirty="0"/>
          </a:p>
        </p:txBody>
      </p:sp>
      <p:pic>
        <p:nvPicPr>
          <p:cNvPr id="4098" name="Picture 2" descr="https://i.pinimg.com/originals/53/46/1e/53461e730da07f1491e3243f90e76b6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5263">
            <a:off x="753107" y="2948972"/>
            <a:ext cx="5141649" cy="343335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71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1411" y="258299"/>
            <a:ext cx="10364451" cy="1596177"/>
          </a:xfrm>
        </p:spPr>
        <p:txBody>
          <a:bodyPr/>
          <a:lstStyle/>
          <a:p>
            <a:r>
              <a:rPr lang="ja-JP" altLang="en-US" dirty="0" smtClean="0"/>
              <a:t>受身形の使い方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ru-RU" altLang="ja-JP" dirty="0" smtClean="0"/>
              <a:t>когда использовать пассивный залог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267855" y="1699491"/>
            <a:ext cx="11684000" cy="49599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2900" dirty="0" smtClean="0"/>
              <a:t>  1) когда мы описываем явления/вещи и т.д. чаще всего, когда мы говорим о событиях, об архитектурных объектах, еде и т.д. </a:t>
            </a:r>
            <a:endParaRPr lang="ru-RU" sz="2900" dirty="0"/>
          </a:p>
          <a:p>
            <a:pPr marL="0" indent="0">
              <a:buNone/>
            </a:pPr>
            <a:r>
              <a:rPr lang="ja-JP" altLang="en-US" sz="2900" dirty="0" smtClean="0"/>
              <a:t>この　おしろは、２００ねんまえに　たて</a:t>
            </a:r>
            <a:r>
              <a:rPr lang="ja-JP" altLang="en-US" sz="29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900" dirty="0" smtClean="0"/>
              <a:t>ました。（たてます）</a:t>
            </a:r>
            <a:endParaRPr lang="en-US" altLang="ja-JP" sz="2900" dirty="0" smtClean="0"/>
          </a:p>
          <a:p>
            <a:pPr marL="0" indent="0">
              <a:buNone/>
            </a:pPr>
            <a:r>
              <a:rPr lang="ru-RU" sz="2900" dirty="0" smtClean="0"/>
              <a:t>Это замок </a:t>
            </a:r>
            <a:r>
              <a:rPr lang="ru-RU" sz="2900" dirty="0" smtClean="0">
                <a:solidFill>
                  <a:schemeClr val="accent1">
                    <a:lumMod val="75000"/>
                  </a:schemeClr>
                </a:solidFill>
              </a:rPr>
              <a:t>был построен </a:t>
            </a:r>
            <a:r>
              <a:rPr lang="ru-RU" sz="2900" dirty="0" smtClean="0"/>
              <a:t>200 лет назад. </a:t>
            </a:r>
          </a:p>
          <a:p>
            <a:pPr marL="0" indent="0">
              <a:buNone/>
            </a:pPr>
            <a:r>
              <a:rPr lang="ja-JP" altLang="en-US" sz="2900" dirty="0"/>
              <a:t>おすしは</a:t>
            </a:r>
            <a:r>
              <a:rPr lang="ja-JP" altLang="en-US" sz="2900" dirty="0" smtClean="0"/>
              <a:t>、ロシアでも日本でも　たべ</a:t>
            </a:r>
            <a:r>
              <a:rPr lang="ja-JP" altLang="en-US" sz="2900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sz="2900" dirty="0" smtClean="0"/>
              <a:t>ています。（たべます）</a:t>
            </a:r>
            <a:endParaRPr lang="ru-RU" altLang="ja-JP" sz="2900" dirty="0" smtClean="0"/>
          </a:p>
          <a:p>
            <a:pPr marL="0" indent="0">
              <a:buNone/>
            </a:pPr>
            <a:r>
              <a:rPr lang="ru-RU" sz="2900" dirty="0" smtClean="0"/>
              <a:t>Суши едят(поедаются) и в России, и в </a:t>
            </a:r>
            <a:r>
              <a:rPr lang="ru-RU" sz="2900" dirty="0" err="1" smtClean="0"/>
              <a:t>японии</a:t>
            </a:r>
            <a:r>
              <a:rPr lang="ru-RU" sz="2900" dirty="0" smtClean="0"/>
              <a:t>.</a:t>
            </a:r>
          </a:p>
          <a:p>
            <a:pPr marL="0" indent="0">
              <a:buNone/>
            </a:pPr>
            <a:r>
              <a:rPr lang="ja-JP" altLang="en-US" sz="2900" dirty="0" smtClean="0"/>
              <a:t>*</a:t>
            </a:r>
            <a:r>
              <a:rPr lang="ru-RU" altLang="ja-JP" sz="2900" dirty="0"/>
              <a:t>не важно, кто эти действия делает/иногда конкретного исполнителя действия нет.</a:t>
            </a:r>
            <a:endParaRPr lang="ru-RU" sz="2900" dirty="0"/>
          </a:p>
          <a:p>
            <a:pPr marL="0" indent="0">
              <a:buNone/>
            </a:pPr>
            <a:r>
              <a:rPr lang="ja-JP" altLang="en-US" sz="2900" dirty="0" smtClean="0"/>
              <a:t>**</a:t>
            </a:r>
            <a:r>
              <a:rPr lang="ru-RU" sz="2900" dirty="0" smtClean="0"/>
              <a:t>Если нам известно, кем было построено/основано и т.д., то используем </a:t>
            </a:r>
            <a:r>
              <a:rPr lang="ja-JP" altLang="en-US" sz="2900" dirty="0" smtClean="0"/>
              <a:t>に　よって：</a:t>
            </a:r>
            <a:endParaRPr lang="en-US" altLang="ja-JP" sz="2900" dirty="0" smtClean="0"/>
          </a:p>
          <a:p>
            <a:pPr marL="0" indent="0">
              <a:buNone/>
            </a:pPr>
            <a:r>
              <a:rPr lang="ja-JP" altLang="en-US" sz="2900" dirty="0" smtClean="0"/>
              <a:t>この本は、むらかみ</a:t>
            </a:r>
            <a:r>
              <a:rPr lang="ja-JP" altLang="en-US" sz="2900" dirty="0" smtClean="0">
                <a:solidFill>
                  <a:schemeClr val="accent1">
                    <a:lumMod val="75000"/>
                  </a:schemeClr>
                </a:solidFill>
              </a:rPr>
              <a:t>によって</a:t>
            </a:r>
            <a:r>
              <a:rPr lang="ja-JP" altLang="en-US" sz="2900" dirty="0" smtClean="0"/>
              <a:t>かかれました。　</a:t>
            </a:r>
            <a:r>
              <a:rPr lang="ru-RU" altLang="ja-JP" sz="2900" dirty="0" smtClean="0"/>
              <a:t>Эта книга </a:t>
            </a:r>
            <a:r>
              <a:rPr lang="ru-RU" altLang="ja-JP" sz="2900" dirty="0" smtClean="0">
                <a:solidFill>
                  <a:schemeClr val="accent1">
                    <a:lumMod val="75000"/>
                  </a:schemeClr>
                </a:solidFill>
              </a:rPr>
              <a:t>была написана </a:t>
            </a:r>
            <a:r>
              <a:rPr lang="ru-RU" altLang="ja-JP" sz="2900" dirty="0" smtClean="0"/>
              <a:t>Мураками.</a:t>
            </a:r>
          </a:p>
          <a:p>
            <a:pPr marL="0" indent="0">
              <a:buNone/>
            </a:pPr>
            <a:r>
              <a:rPr lang="ru-RU" sz="2900" dirty="0" smtClean="0"/>
              <a:t>***</a:t>
            </a:r>
            <a:r>
              <a:rPr lang="ja-JP" altLang="en-US" sz="2900" dirty="0" smtClean="0"/>
              <a:t>～によって</a:t>
            </a:r>
            <a:r>
              <a:rPr lang="ru-RU" altLang="ja-JP" sz="2900" dirty="0" smtClean="0"/>
              <a:t> часто встречается с глаголами: </a:t>
            </a:r>
            <a:r>
              <a:rPr lang="ja-JP" altLang="en-US" sz="2900" dirty="0" smtClean="0"/>
              <a:t>かく、つくる、はっけんする</a:t>
            </a:r>
            <a:r>
              <a:rPr lang="ru-RU" altLang="ja-JP" sz="2900" dirty="0" smtClean="0"/>
              <a:t>(открывать), </a:t>
            </a:r>
            <a:r>
              <a:rPr lang="ja-JP" altLang="en-US" sz="2900" dirty="0" smtClean="0"/>
              <a:t>はつめいする</a:t>
            </a:r>
            <a:r>
              <a:rPr lang="ru-RU" altLang="ja-JP" sz="2900" dirty="0" smtClean="0"/>
              <a:t>(изобретать), </a:t>
            </a:r>
            <a:r>
              <a:rPr lang="ja-JP" altLang="en-US" sz="2900" dirty="0" smtClean="0"/>
              <a:t>たてる、せっけいする</a:t>
            </a:r>
            <a:r>
              <a:rPr lang="ru-RU" altLang="ja-JP" sz="2900" dirty="0" smtClean="0"/>
              <a:t> проектировать</a:t>
            </a:r>
            <a:endParaRPr lang="en-US" sz="2900" dirty="0" smtClean="0"/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r>
              <a:rPr lang="ru-RU" dirty="0" smtClean="0"/>
              <a:t>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620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77454" y="676837"/>
            <a:ext cx="10335491" cy="5197490"/>
          </a:xfrm>
        </p:spPr>
        <p:txBody>
          <a:bodyPr>
            <a:normAutofit/>
          </a:bodyPr>
          <a:lstStyle/>
          <a:p>
            <a:r>
              <a:rPr lang="ru-RU" dirty="0" smtClean="0"/>
              <a:t>2) пассивный залог часто используется, когда кто-то/что-то испытывает на себе действие от другого лица (часто негативные эмоции). При этом «обидчик» требует частицы </a:t>
            </a:r>
            <a:r>
              <a:rPr lang="ja-JP" altLang="en-US" dirty="0" smtClean="0"/>
              <a:t>に</a:t>
            </a:r>
            <a:endParaRPr lang="ru-RU" dirty="0" smtClean="0"/>
          </a:p>
          <a:p>
            <a:r>
              <a:rPr lang="ja-JP" altLang="en-US" dirty="0"/>
              <a:t>たな</a:t>
            </a:r>
            <a:r>
              <a:rPr lang="ja-JP" altLang="en-US" dirty="0" smtClean="0"/>
              <a:t>か</a:t>
            </a:r>
            <a:r>
              <a:rPr lang="ja-JP" altLang="en-US" dirty="0"/>
              <a:t>くんは</a:t>
            </a:r>
            <a:r>
              <a:rPr lang="ja-JP" altLang="en-US" dirty="0" smtClean="0"/>
              <a:t>、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おとうとに</a:t>
            </a:r>
            <a:r>
              <a:rPr lang="ja-JP" altLang="en-US" dirty="0" smtClean="0"/>
              <a:t>　ケーキをたべ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dirty="0" smtClean="0"/>
              <a:t>ました。</a:t>
            </a:r>
            <a:r>
              <a:rPr lang="ru-RU" altLang="ja-JP" dirty="0" smtClean="0"/>
              <a:t>(тортик был съеден братом, </a:t>
            </a:r>
            <a:r>
              <a:rPr lang="ru-RU" altLang="ja-JP" dirty="0" err="1" smtClean="0"/>
              <a:t>Танака</a:t>
            </a:r>
            <a:r>
              <a:rPr lang="ru-RU" altLang="ja-JP" dirty="0" smtClean="0"/>
              <a:t> «пострадал»)</a:t>
            </a:r>
          </a:p>
          <a:p>
            <a:r>
              <a:rPr lang="ja-JP" altLang="en-US" dirty="0"/>
              <a:t>ともだちは</a:t>
            </a:r>
            <a:r>
              <a:rPr lang="ja-JP" altLang="en-US" dirty="0" smtClean="0"/>
              <a:t>、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おかあさんに</a:t>
            </a:r>
            <a:r>
              <a:rPr lang="ja-JP" altLang="en-US" dirty="0" smtClean="0"/>
              <a:t>　てがみを　よ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まれ</a:t>
            </a:r>
            <a:r>
              <a:rPr lang="ja-JP" altLang="en-US" dirty="0" smtClean="0"/>
              <a:t>ました。</a:t>
            </a:r>
            <a:r>
              <a:rPr lang="ru-RU" altLang="ja-JP" dirty="0" smtClean="0"/>
              <a:t>(письмо друга было прочитано мамой)</a:t>
            </a:r>
          </a:p>
          <a:p>
            <a:r>
              <a:rPr lang="ja-JP" altLang="en-US" dirty="0" smtClean="0"/>
              <a:t>きょう、あめに　ふ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dirty="0" smtClean="0"/>
              <a:t>た。</a:t>
            </a:r>
            <a:r>
              <a:rPr lang="ru-RU" altLang="ja-JP" dirty="0" smtClean="0"/>
              <a:t>(был под воздействием дождя, возможно промок, неприятно)</a:t>
            </a:r>
          </a:p>
          <a:p>
            <a:r>
              <a:rPr lang="ja-JP" altLang="en-US" dirty="0"/>
              <a:t>あ</a:t>
            </a:r>
            <a:r>
              <a:rPr lang="ja-JP" altLang="en-US" dirty="0" smtClean="0"/>
              <a:t>のビルは、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じしんに</a:t>
            </a:r>
            <a:r>
              <a:rPr lang="ja-JP" altLang="en-US" dirty="0" smtClean="0"/>
              <a:t>　こわ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され</a:t>
            </a:r>
            <a:r>
              <a:rPr lang="ja-JP" altLang="en-US" dirty="0" smtClean="0"/>
              <a:t>ました。</a:t>
            </a:r>
            <a:r>
              <a:rPr lang="ru-RU" altLang="ja-JP" dirty="0" smtClean="0"/>
              <a:t>(то здание было разрушено землетрясением)</a:t>
            </a:r>
          </a:p>
        </p:txBody>
      </p:sp>
    </p:spTree>
    <p:extLst>
      <p:ext uri="{BB962C8B-B14F-4D97-AF65-F5344CB8AC3E}">
        <p14:creationId xmlns:p14="http://schemas.microsoft.com/office/powerpoint/2010/main" val="28717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65019" y="683491"/>
            <a:ext cx="10474036" cy="5504872"/>
          </a:xfrm>
        </p:spPr>
        <p:txBody>
          <a:bodyPr>
            <a:normAutofit/>
          </a:bodyPr>
          <a:lstStyle/>
          <a:p>
            <a:r>
              <a:rPr lang="ru-RU" dirty="0" smtClean="0"/>
              <a:t>3) пассивный залог используется в </a:t>
            </a:r>
            <a:r>
              <a:rPr lang="ru-RU" dirty="0" err="1" smtClean="0"/>
              <a:t>кеиго</a:t>
            </a:r>
            <a:r>
              <a:rPr lang="ru-RU" dirty="0" smtClean="0"/>
              <a:t>, когда мы говорим о действиях 3-их лиц:</a:t>
            </a:r>
          </a:p>
          <a:p>
            <a:pPr marL="0" indent="0">
              <a:buNone/>
            </a:pPr>
            <a:r>
              <a:rPr lang="ja-JP" altLang="en-US" dirty="0"/>
              <a:t>たなかさんは</a:t>
            </a:r>
            <a:r>
              <a:rPr lang="ja-JP" altLang="en-US" dirty="0" smtClean="0"/>
              <a:t>、カレーをつく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られ</a:t>
            </a:r>
            <a:r>
              <a:rPr lang="ja-JP" altLang="en-US" dirty="0" smtClean="0"/>
              <a:t>ましたか。</a:t>
            </a:r>
            <a:r>
              <a:rPr lang="ru-RU" altLang="ja-JP" dirty="0" smtClean="0"/>
              <a:t>(</a:t>
            </a:r>
            <a:r>
              <a:rPr lang="ru-RU" altLang="ja-JP" dirty="0" err="1" smtClean="0"/>
              <a:t>Танака</a:t>
            </a:r>
            <a:r>
              <a:rPr lang="ru-RU" altLang="ja-JP" dirty="0" smtClean="0"/>
              <a:t>, Вы приготовили карри?)</a:t>
            </a:r>
          </a:p>
          <a:p>
            <a:pPr marL="0" indent="0">
              <a:buNone/>
            </a:pPr>
            <a:r>
              <a:rPr lang="ru-RU" dirty="0" smtClean="0"/>
              <a:t>  4) «это может быть….», похоже на «возможность»</a:t>
            </a:r>
          </a:p>
          <a:p>
            <a:pPr marL="0" indent="0">
              <a:buNone/>
            </a:pPr>
            <a:r>
              <a:rPr lang="ja-JP" altLang="en-US" dirty="0"/>
              <a:t>これは</a:t>
            </a:r>
            <a:r>
              <a:rPr lang="ja-JP" altLang="en-US" dirty="0" smtClean="0"/>
              <a:t>、たべられます。</a:t>
            </a:r>
            <a:r>
              <a:rPr lang="ru-RU" altLang="ja-JP" dirty="0" smtClean="0"/>
              <a:t>(это съедобно)</a:t>
            </a:r>
          </a:p>
          <a:p>
            <a:pPr marL="0" indent="0">
              <a:buNone/>
            </a:pPr>
            <a:endParaRPr lang="ru-RU" altLang="ja-JP" dirty="0" smtClean="0"/>
          </a:p>
          <a:p>
            <a:pPr marL="0" indent="0">
              <a:buNone/>
            </a:pPr>
            <a:r>
              <a:rPr lang="ru-RU" dirty="0" smtClean="0"/>
              <a:t> 5) «считается», «говорят», «вспоминается» и т.д. (самопроизвольность)</a:t>
            </a:r>
          </a:p>
          <a:p>
            <a:pPr marL="0" indent="0">
              <a:buNone/>
            </a:pPr>
            <a:r>
              <a:rPr lang="ja-JP" altLang="en-US" dirty="0"/>
              <a:t>けんこうは</a:t>
            </a:r>
            <a:r>
              <a:rPr lang="ja-JP" altLang="en-US" dirty="0" smtClean="0"/>
              <a:t>、おかねより　だいじだと　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おもわれます</a:t>
            </a:r>
            <a:r>
              <a:rPr lang="ja-JP" altLang="en-US" dirty="0" smtClean="0"/>
              <a:t>。</a:t>
            </a:r>
            <a:r>
              <a:rPr lang="ru-RU" altLang="ja-JP" dirty="0" smtClean="0"/>
              <a:t>Считается, что здоровье важнее денег).</a:t>
            </a:r>
          </a:p>
          <a:p>
            <a:pPr marL="0" indent="0">
              <a:buNone/>
            </a:pPr>
            <a:r>
              <a:rPr lang="ja-JP" altLang="en-US" dirty="0"/>
              <a:t>こ</a:t>
            </a:r>
            <a:r>
              <a:rPr lang="ja-JP" altLang="en-US" dirty="0" smtClean="0"/>
              <a:t>のきょくを　きくと、がくせいの時は　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おもいだされます</a:t>
            </a:r>
            <a:r>
              <a:rPr lang="ja-JP" altLang="en-US" dirty="0" smtClean="0"/>
              <a:t>。</a:t>
            </a:r>
            <a:r>
              <a:rPr lang="ru-RU" altLang="ja-JP" dirty="0" smtClean="0"/>
              <a:t> Если слушаю эту мелодию, то вспоминается студенческое время.</a:t>
            </a:r>
          </a:p>
          <a:p>
            <a:pPr marL="0" indent="0">
              <a:buNone/>
            </a:pPr>
            <a:r>
              <a:rPr lang="ja-JP" altLang="en-US" dirty="0"/>
              <a:t>日</a:t>
            </a:r>
            <a:r>
              <a:rPr lang="ja-JP" altLang="en-US" dirty="0" smtClean="0"/>
              <a:t>本はちいさいと　</a:t>
            </a:r>
            <a:r>
              <a:rPr lang="ja-JP" altLang="en-US" dirty="0" smtClean="0">
                <a:solidFill>
                  <a:schemeClr val="accent1">
                    <a:lumMod val="75000"/>
                  </a:schemeClr>
                </a:solidFill>
              </a:rPr>
              <a:t>よくいわれます</a:t>
            </a:r>
            <a:r>
              <a:rPr lang="ja-JP" altLang="en-US" dirty="0" smtClean="0"/>
              <a:t>。</a:t>
            </a:r>
            <a:r>
              <a:rPr lang="ru-RU" altLang="ja-JP" dirty="0" smtClean="0"/>
              <a:t> Часто говорят, что </a:t>
            </a:r>
            <a:r>
              <a:rPr lang="ru-RU" altLang="ja-JP" dirty="0" err="1" smtClean="0"/>
              <a:t>япония</a:t>
            </a:r>
            <a:r>
              <a:rPr lang="ru-RU" altLang="ja-JP" dirty="0" smtClean="0"/>
              <a:t> маленькая.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63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68217" y="886690"/>
            <a:ext cx="101784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ja-JP" sz="2800" b="1" dirty="0" smtClean="0"/>
              <a:t>Переведите:</a:t>
            </a:r>
          </a:p>
          <a:p>
            <a:r>
              <a:rPr lang="ja-JP" altLang="en-US" sz="2800" dirty="0" smtClean="0"/>
              <a:t>１）ともだちに　わるいことを　いわれました。</a:t>
            </a:r>
            <a:endParaRPr lang="en-US" altLang="ja-JP" sz="2800" dirty="0" smtClean="0"/>
          </a:p>
          <a:p>
            <a:r>
              <a:rPr lang="ja-JP" altLang="en-US" sz="2800" dirty="0"/>
              <a:t>２</a:t>
            </a:r>
            <a:r>
              <a:rPr lang="ja-JP" altLang="en-US" sz="2800" dirty="0" smtClean="0"/>
              <a:t>）ラジオは、１８９６ねんにポポフによって　はつめいされました。</a:t>
            </a:r>
            <a:endParaRPr lang="en-US" altLang="ja-JP" sz="2800" dirty="0" smtClean="0"/>
          </a:p>
          <a:p>
            <a:r>
              <a:rPr lang="ja-JP" altLang="en-US" sz="2800" dirty="0"/>
              <a:t>３</a:t>
            </a:r>
            <a:r>
              <a:rPr lang="ja-JP" altLang="en-US" sz="2800" dirty="0" smtClean="0"/>
              <a:t>）あのいえは　たいふうに　こわされないでしょう。</a:t>
            </a:r>
            <a:endParaRPr lang="en-US" altLang="ja-JP" sz="2800" dirty="0" smtClean="0"/>
          </a:p>
          <a:p>
            <a:r>
              <a:rPr lang="ja-JP" altLang="en-US" sz="2800" dirty="0"/>
              <a:t>４</a:t>
            </a:r>
            <a:r>
              <a:rPr lang="ja-JP" altLang="en-US" sz="2800" dirty="0" smtClean="0"/>
              <a:t>）むすめが　つくったケーキはおいしかったです。</a:t>
            </a:r>
            <a:endParaRPr lang="en-US" altLang="ja-JP" sz="2800" dirty="0" smtClean="0"/>
          </a:p>
          <a:p>
            <a:r>
              <a:rPr lang="ja-JP" altLang="en-US" sz="2800" dirty="0"/>
              <a:t>５</a:t>
            </a:r>
            <a:r>
              <a:rPr lang="ja-JP" altLang="en-US" sz="2800" dirty="0" smtClean="0"/>
              <a:t>）らいねん、この小さいまちで　日本まつりが　おこなわれます。</a:t>
            </a:r>
            <a:endParaRPr lang="en-US" altLang="ja-JP" sz="2800" dirty="0" smtClean="0"/>
          </a:p>
          <a:p>
            <a:r>
              <a:rPr lang="ja-JP" altLang="en-US" sz="2800" dirty="0"/>
              <a:t>６</a:t>
            </a:r>
            <a:r>
              <a:rPr lang="ja-JP" altLang="en-US" sz="2800" dirty="0" smtClean="0"/>
              <a:t>）むすこに　もんくをいわれて、きぶんが　わるくなりました。</a:t>
            </a:r>
            <a:endParaRPr lang="en-US" altLang="ja-JP" sz="2800" dirty="0" smtClean="0"/>
          </a:p>
          <a:p>
            <a:r>
              <a:rPr lang="ja-JP" altLang="en-US" sz="2800" dirty="0"/>
              <a:t>７</a:t>
            </a:r>
            <a:r>
              <a:rPr lang="ja-JP" altLang="en-US" sz="2800" dirty="0" smtClean="0"/>
              <a:t>）よく　おもいだされることは　何ですか。</a:t>
            </a:r>
            <a:endParaRPr lang="en-US" altLang="ja-JP" sz="2800" dirty="0" smtClean="0"/>
          </a:p>
          <a:p>
            <a:r>
              <a:rPr lang="ja-JP" altLang="en-US" sz="2800" dirty="0"/>
              <a:t>８</a:t>
            </a:r>
            <a:r>
              <a:rPr lang="ja-JP" altLang="en-US" sz="2800" dirty="0" smtClean="0"/>
              <a:t>）それはむりだと　しんじられていました。</a:t>
            </a:r>
            <a:r>
              <a:rPr lang="ru-RU" altLang="ja-JP" sz="2800" dirty="0" smtClean="0"/>
              <a:t> </a:t>
            </a:r>
            <a:r>
              <a:rPr lang="ja-JP" altLang="en-US" sz="2800" dirty="0" smtClean="0"/>
              <a:t>うちゅうへ　いく事</a:t>
            </a:r>
            <a:endParaRPr lang="en-US" altLang="ja-JP" sz="2800" dirty="0" smtClean="0"/>
          </a:p>
          <a:p>
            <a:r>
              <a:rPr lang="ja-JP" altLang="en-US" sz="2800" dirty="0"/>
              <a:t>９</a:t>
            </a:r>
            <a:r>
              <a:rPr lang="ja-JP" altLang="en-US" sz="2800" dirty="0" smtClean="0"/>
              <a:t>）セジョンによって　はつめいされたハングルはいまも　つかわれています。</a:t>
            </a:r>
            <a:endParaRPr lang="en-US" altLang="ja-JP" sz="2800" dirty="0" smtClean="0"/>
          </a:p>
          <a:p>
            <a:r>
              <a:rPr lang="ja-JP" altLang="en-US" sz="2800" dirty="0"/>
              <a:t>１</a:t>
            </a:r>
            <a:r>
              <a:rPr lang="ja-JP" altLang="en-US" sz="2800" dirty="0" smtClean="0"/>
              <a:t>０）かのじょに　もうわすれられました。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2199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74982" y="1034472"/>
            <a:ext cx="77031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Переведите: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Австралия была открыта Куком в 1770 году.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Сегодня учитель отругал меня за то, что я пропустил занятия вчера.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Мне часто говорят, что я странный.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Маме нарисовали красивую картину нашего дома.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Мне не очень нравятся книги, написанные Харуки Мураками.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Вчера моё письмо не было отправлено.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Позавчера мой друг промок под дождём и ждал меня 30 минут.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Вы будете отправлять это письмо? (вежливо)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В этой стране ничего не было изобретено.</a:t>
            </a:r>
          </a:p>
          <a:p>
            <a:pPr marL="342900" indent="-342900">
              <a:buAutoNum type="arabicParenR"/>
            </a:pPr>
            <a:r>
              <a:rPr lang="ru-RU" sz="2000" dirty="0" smtClean="0"/>
              <a:t>В той тетради было записано моё имя.</a:t>
            </a:r>
          </a:p>
          <a:p>
            <a:pPr marL="342900" indent="-342900">
              <a:buAutoNum type="arabicParenR"/>
            </a:pPr>
            <a:endParaRPr lang="ru-RU" dirty="0" smtClean="0"/>
          </a:p>
          <a:p>
            <a:pPr marL="342900" indent="-342900">
              <a:buAutoNum type="arabicParenR"/>
            </a:pPr>
            <a:endParaRPr lang="ru-RU" dirty="0" smtClean="0"/>
          </a:p>
          <a:p>
            <a:pPr marL="342900" indent="-342900">
              <a:buAutoNum type="arabicParenR"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78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1745" y="498764"/>
            <a:ext cx="86637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1) Антарктида</a:t>
            </a:r>
            <a:r>
              <a:rPr lang="ja-JP" altLang="en-US" sz="2400" dirty="0" smtClean="0"/>
              <a:t>（なんきょく）</a:t>
            </a:r>
            <a:r>
              <a:rPr lang="ru-RU" sz="2400" dirty="0" smtClean="0"/>
              <a:t> была открыта Лазаревым и Беллинсгаузеном в 1820 г.</a:t>
            </a:r>
          </a:p>
          <a:p>
            <a:r>
              <a:rPr lang="ru-RU" sz="2400" dirty="0" smtClean="0"/>
              <a:t>2) </a:t>
            </a:r>
            <a:r>
              <a:rPr lang="ru-RU" sz="2400" dirty="0" err="1" smtClean="0"/>
              <a:t>Итои</a:t>
            </a:r>
            <a:r>
              <a:rPr lang="ru-RU" sz="2400" dirty="0" smtClean="0"/>
              <a:t> может говорить на 5-ти языках.</a:t>
            </a:r>
          </a:p>
          <a:p>
            <a:r>
              <a:rPr lang="ru-RU" sz="2400" dirty="0" smtClean="0"/>
              <a:t>3)Мама поругала</a:t>
            </a:r>
            <a:r>
              <a:rPr lang="ja-JP" altLang="en-US" sz="2400" dirty="0" smtClean="0"/>
              <a:t>（しかる）</a:t>
            </a:r>
            <a:r>
              <a:rPr lang="ru-RU" sz="2400" dirty="0" smtClean="0"/>
              <a:t> </a:t>
            </a:r>
            <a:r>
              <a:rPr lang="ru-RU" sz="2400" dirty="0" err="1" smtClean="0"/>
              <a:t>Рэна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4)Сегодня приходил учитель </a:t>
            </a:r>
            <a:r>
              <a:rPr lang="ru-RU" sz="2400" dirty="0" err="1" smtClean="0"/>
              <a:t>Сато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5)То белое здание было построено 4 года назад.</a:t>
            </a:r>
          </a:p>
          <a:p>
            <a:r>
              <a:rPr lang="ru-RU" sz="2400" dirty="0" smtClean="0"/>
              <a:t>6)Старший брат не ел мой бутерброд. Он(</a:t>
            </a:r>
            <a:r>
              <a:rPr lang="ru-RU" sz="2400" dirty="0" err="1" smtClean="0"/>
              <a:t>бутер</a:t>
            </a:r>
            <a:r>
              <a:rPr lang="ru-RU" sz="2400" dirty="0" smtClean="0"/>
              <a:t>!) был съеден собакой.</a:t>
            </a:r>
          </a:p>
          <a:p>
            <a:r>
              <a:rPr lang="ru-RU" sz="2400" dirty="0" smtClean="0"/>
              <a:t>7)Отец починил</a:t>
            </a:r>
            <a:r>
              <a:rPr lang="ja-JP" altLang="en-US" sz="2400" dirty="0" smtClean="0"/>
              <a:t>（なおす）</a:t>
            </a:r>
            <a:r>
              <a:rPr lang="ru-RU" sz="2400" dirty="0" smtClean="0"/>
              <a:t> мне велосипед.</a:t>
            </a:r>
            <a:r>
              <a:rPr lang="ja-JP" altLang="en-US" sz="2400" dirty="0" smtClean="0"/>
              <a:t>直す　治す　くれる</a:t>
            </a:r>
            <a:r>
              <a:rPr lang="en-US" altLang="ja-JP" sz="2400" dirty="0" smtClean="0"/>
              <a:t>/</a:t>
            </a:r>
            <a:r>
              <a:rPr lang="ja-JP" altLang="en-US" sz="2400" dirty="0" smtClean="0"/>
              <a:t>もらう</a:t>
            </a:r>
            <a:endParaRPr lang="ru-RU" sz="2400" dirty="0" smtClean="0"/>
          </a:p>
          <a:p>
            <a:r>
              <a:rPr lang="ru-RU" sz="2400" dirty="0" smtClean="0"/>
              <a:t>8)</a:t>
            </a:r>
            <a:r>
              <a:rPr lang="ru-RU" sz="2400" dirty="0" err="1" smtClean="0"/>
              <a:t>Умэда</a:t>
            </a:r>
            <a:r>
              <a:rPr lang="ru-RU" sz="2400" dirty="0" smtClean="0"/>
              <a:t> не умел читать по-русски в прошлом году.</a:t>
            </a:r>
          </a:p>
          <a:p>
            <a:r>
              <a:rPr lang="ru-RU" sz="2400" dirty="0" smtClean="0"/>
              <a:t>9)В этом году </a:t>
            </a:r>
            <a:r>
              <a:rPr lang="ru-RU" sz="2400" dirty="0" err="1" smtClean="0"/>
              <a:t>Кобаяши</a:t>
            </a:r>
            <a:r>
              <a:rPr lang="ru-RU" sz="2400" dirty="0" smtClean="0"/>
              <a:t> не смог поехать на Окинаву.</a:t>
            </a:r>
          </a:p>
          <a:p>
            <a:r>
              <a:rPr lang="ru-RU" sz="2400" dirty="0" smtClean="0"/>
              <a:t>10)Я думаю, что смогу писать по-арабски.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45440347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яне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TM04033925[[fn=Капля]]</Template>
  <TotalTime>678</TotalTime>
  <Words>405</Words>
  <Application>Microsoft Office PowerPoint</Application>
  <PresentationFormat>Широкоэкранный</PresentationFormat>
  <Paragraphs>86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ＭＳ Ｐゴシック</vt:lpstr>
      <vt:lpstr>Arial</vt:lpstr>
      <vt:lpstr>Tw Cen MT</vt:lpstr>
      <vt:lpstr>Капля</vt:lpstr>
      <vt:lpstr>受身形 うけみけい Пассивный(страдательный)залог («было сказано», «было основано» и т.д.)</vt:lpstr>
      <vt:lpstr>Презентация PowerPoint</vt:lpstr>
      <vt:lpstr>Презентация PowerPoint</vt:lpstr>
      <vt:lpstr>Презентация PowerPoint</vt:lpstr>
      <vt:lpstr>受身形の使い方 когда использовать пассивный залог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受身形 うけみけい Пассивный(страдательный)залог («было сказано», «было основано» и т.д.)</dc:title>
  <dc:creator>Пользователь Windows</dc:creator>
  <cp:lastModifiedBy>Пользователь Windows</cp:lastModifiedBy>
  <cp:revision>25</cp:revision>
  <dcterms:created xsi:type="dcterms:W3CDTF">2021-10-07T11:37:12Z</dcterms:created>
  <dcterms:modified xsi:type="dcterms:W3CDTF">2021-10-17T17:50:36Z</dcterms:modified>
</cp:coreProperties>
</file>